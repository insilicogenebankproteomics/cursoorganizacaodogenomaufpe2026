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81" r:id="rId3"/>
    <p:sldId id="259" r:id="rId4"/>
    <p:sldId id="282" r:id="rId5"/>
    <p:sldId id="283" r:id="rId6"/>
    <p:sldId id="284" r:id="rId7"/>
    <p:sldId id="285" r:id="rId8"/>
    <p:sldId id="293" r:id="rId9"/>
    <p:sldId id="286" r:id="rId10"/>
    <p:sldId id="288" r:id="rId11"/>
    <p:sldId id="287" r:id="rId12"/>
    <p:sldId id="304" r:id="rId13"/>
    <p:sldId id="291" r:id="rId14"/>
    <p:sldId id="305" r:id="rId15"/>
    <p:sldId id="292" r:id="rId16"/>
    <p:sldId id="307" r:id="rId17"/>
    <p:sldId id="294" r:id="rId18"/>
    <p:sldId id="302" r:id="rId19"/>
    <p:sldId id="303" r:id="rId20"/>
    <p:sldId id="295" r:id="rId21"/>
    <p:sldId id="297" r:id="rId22"/>
    <p:sldId id="298" r:id="rId23"/>
    <p:sldId id="299" r:id="rId24"/>
    <p:sldId id="300" r:id="rId25"/>
    <p:sldId id="301" r:id="rId26"/>
    <p:sldId id="290" r:id="rId27"/>
    <p:sldId id="289" r:id="rId28"/>
    <p:sldId id="306" r:id="rId29"/>
    <p:sldId id="29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8"/>
    <p:restoredTop sz="94411"/>
  </p:normalViewPr>
  <p:slideViewPr>
    <p:cSldViewPr snapToGrid="0">
      <p:cViewPr>
        <p:scale>
          <a:sx n="97" d="100"/>
          <a:sy n="97" d="100"/>
        </p:scale>
        <p:origin x="760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B9A0D5-A46D-F849-9A2A-0A1B32227D3E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3CA55-09AF-A44A-BC1A-765022D00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638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3CA55-09AF-A44A-BC1A-765022D001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13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6EC67-B26D-A4DE-9EE3-78721C5B9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41CF0-6597-B8C8-5FA0-40A7BBA98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48D9C-5696-FD9C-BB76-C4CDD495E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25506-19E9-B34F-BFFF-8EE11118AA76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A760F-E4B6-C7AE-59FF-202244A4C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C7E15-B7E4-0F61-3520-C5768B04F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65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02ADB-FE7F-6E58-4C65-C4E9ACD33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69446-EA85-E5E0-2D09-FB5A30B4C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40911-D4B1-CF37-81C0-67071350F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25506-19E9-B34F-BFFF-8EE11118AA76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7CE24-8273-7621-CA1D-11D340445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88EC8-E23F-0F3B-E45E-CCBCA944C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87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A1B51-8DAC-FE6E-6AF1-F4D9FA8B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0AC0C-95AA-F089-378B-24D057EEB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A75E4-26AE-34B5-0794-8E86CA36A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25506-19E9-B34F-BFFF-8EE11118AA76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8296A-4897-E143-B947-1129C9B3F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8AAA8-716A-3592-DFC3-02640C88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32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C87E-4FC3-1CCA-1D15-6B7FE91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7156E-D8D3-B118-0F18-D22D5B179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B0DBDF-2250-8027-BDED-E452059FD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7685D-3579-AD00-2C54-1770C77D7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25506-19E9-B34F-BFFF-8EE11118AA76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78F8F-39CC-7D39-BAB6-7B646D1C0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8527D-7B64-DFFB-8BFE-2E6D3471A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943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C089-3C29-04ED-EDBE-B6ACE3218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7F8D5-FBD2-7B43-DF0C-DD25621DD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4A9428-AFB1-5E04-33BB-1F2970260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9ED74-42B8-9A03-BEC9-AC138E1F3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388539-BC5E-A2BB-2B7E-AEF2F25464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5DDE7-3E69-B796-0616-26A1A9634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25506-19E9-B34F-BFFF-8EE11118AA76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C74B2E-A4FC-3877-9040-E35626ED1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49B0DA-EE25-D61C-6A3E-FBD59CC1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851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2457E-9D73-2A39-CFC1-5E5BB07C4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039FB-E4D8-ADCA-E39A-528F131EB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25506-19E9-B34F-BFFF-8EE11118AA76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A30E43-2D7E-2906-67AE-2DB75140E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374A67-421C-B3DB-D36D-611B7B420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58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74A330-5C52-9224-C2EE-4715F0CF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25506-19E9-B34F-BFFF-8EE11118AA76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9BA76B-0DDF-AE16-950B-5DE718A48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8FE99-305E-CD42-960D-14954E717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11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FE281-810A-071D-E38F-E96892A0F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D155F-A21F-DA3A-A6BF-91FC11ED2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1B7C21-CF0A-1057-15D9-2C46E6A8F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9173E9-ACD9-5C47-6A46-E68914BF8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25506-19E9-B34F-BFFF-8EE11118AA76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1EB0E-63C6-F1F0-C615-E84E2BAC9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EF203-86B4-68F2-D34D-22F1E965D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3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ADC7C-1164-B679-99E4-A78A84569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C06480-0DD9-CE86-F74A-60E77D95FB7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79421-E475-69EE-D333-BA10DE1B2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F0B21-D8E0-179E-62D5-32F8514B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25506-19E9-B34F-BFFF-8EE11118AA76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CEF67-77A9-BA60-25D2-76DDDBE2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4CCC4-5D63-6D37-29B8-BBBA35AE1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8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13F8-28B7-2D7A-C24B-E265F223E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87B85-2D08-D435-E463-132642633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F8373-16C1-6FA1-C1BB-B4CF93CE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25506-19E9-B34F-BFFF-8EE11118AA76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77383-CC2B-7959-6BAE-5AB91876D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ECF90-7B3A-5AB7-CD70-3DA18974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9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69A22E-ED79-6643-D407-684FFC838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6BFBAA-BD11-4F7D-8425-4C04610C1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A8FBB-C918-3291-D439-9FF1593A1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25506-19E9-B34F-BFFF-8EE11118AA76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26972-B039-E791-F3EE-471D9DD5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2D4BE-B792-5C95-8D7B-1C3A5EE7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3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153478-0B1E-1AFD-2742-48122A93D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EFDBD-33A2-1B2A-476D-9EA37686E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A39B8-6428-2C3D-F1AF-6DDB28C49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C25506-19E9-B34F-BFFF-8EE11118AA76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08AD2-2AF8-473F-E085-8C7785228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58087-208F-C501-BE94-9E7865F88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E3468-0E78-A243-8E7A-4DF44799F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08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icfiles.tc4ga.com/public/juicer/juicer_tools.1.9.9_jcuda.0.8.jar" TargetMode="External"/><Relationship Id="rId2" Type="http://schemas.openxmlformats.org/officeDocument/2006/relationships/hyperlink" Target="https://github.com/theaidenlab/juicer.git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equence_Read_Archive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ftp-trace.ncbi.nlm.nih.gov/sra/sdk/current/sratoolkit.current-alma_linux64.tar.gz" TargetMode="External"/><Relationship Id="rId2" Type="http://schemas.openxmlformats.org/officeDocument/2006/relationships/hyperlink" Target="https://ftp-trace.ncbi.nlm.nih.gov/sra/sdk/current/sratoolkit.current-mac-arm64.tar.gz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hgdownload.soe.ucsc.edu/goldenPath/mm10/bigZips/mm10.fa.gz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ftp-trace.ncbi.nlm.nih.gov/sra/sdk/current/sratoolkit.current-alma_linux64.tar.gz" TargetMode="External"/><Relationship Id="rId2" Type="http://schemas.openxmlformats.org/officeDocument/2006/relationships/hyperlink" Target="https://ftp-trace.ncbi.nlm.nih.gov/sra/sdk/current/sratoolkit.current-mac-arm64.tar.gz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>
            <a:extLst>
              <a:ext uri="{FF2B5EF4-FFF2-40B4-BE49-F238E27FC236}">
                <a16:creationId xmlns:a16="http://schemas.microsoft.com/office/drawing/2014/main" id="{46E0BC2F-E8A8-9133-F285-58710FF57303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460005" y="160592"/>
            <a:ext cx="3528695" cy="1014730"/>
          </a:xfrm>
          <a:prstGeom prst="rect">
            <a:avLst/>
          </a:prstGeom>
        </p:spPr>
      </p:pic>
      <p:pic>
        <p:nvPicPr>
          <p:cNvPr id="5" name="Grafik 6">
            <a:extLst>
              <a:ext uri="{FF2B5EF4-FFF2-40B4-BE49-F238E27FC236}">
                <a16:creationId xmlns:a16="http://schemas.microsoft.com/office/drawing/2014/main" id="{27861700-570B-0E49-E007-25ACC082D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013" y="5706494"/>
            <a:ext cx="1851987" cy="914409"/>
          </a:xfrm>
          <a:prstGeom prst="rect">
            <a:avLst/>
          </a:prstGeom>
        </p:spPr>
      </p:pic>
      <p:pic>
        <p:nvPicPr>
          <p:cNvPr id="6" name="Picture 18" descr="A green spiral on a black background&#10;&#10;Description automatically generated">
            <a:extLst>
              <a:ext uri="{FF2B5EF4-FFF2-40B4-BE49-F238E27FC236}">
                <a16:creationId xmlns:a16="http://schemas.microsoft.com/office/drawing/2014/main" id="{4652E9A5-C3C8-3FC6-14D6-BE4F4DCFD8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813" y="6043761"/>
            <a:ext cx="1055918" cy="582109"/>
          </a:xfrm>
          <a:prstGeom prst="rect">
            <a:avLst/>
          </a:prstGeom>
        </p:spPr>
      </p:pic>
      <p:pic>
        <p:nvPicPr>
          <p:cNvPr id="7" name="Grafik 7">
            <a:extLst>
              <a:ext uri="{FF2B5EF4-FFF2-40B4-BE49-F238E27FC236}">
                <a16:creationId xmlns:a16="http://schemas.microsoft.com/office/drawing/2014/main" id="{10D8FC29-8DAE-C1D4-9D5B-DEB34E5706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92" y="4934044"/>
            <a:ext cx="1293208" cy="1293208"/>
          </a:xfrm>
          <a:prstGeom prst="rect">
            <a:avLst/>
          </a:prstGeom>
        </p:spPr>
      </p:pic>
      <p:sp>
        <p:nvSpPr>
          <p:cNvPr id="8" name="Rechteck 3">
            <a:extLst>
              <a:ext uri="{FF2B5EF4-FFF2-40B4-BE49-F238E27FC236}">
                <a16:creationId xmlns:a16="http://schemas.microsoft.com/office/drawing/2014/main" id="{277BF6AC-36CC-9F1B-D82E-C0110B9514C3}"/>
              </a:ext>
            </a:extLst>
          </p:cNvPr>
          <p:cNvSpPr/>
          <p:nvPr/>
        </p:nvSpPr>
        <p:spPr>
          <a:xfrm>
            <a:off x="266330" y="6003044"/>
            <a:ext cx="2926049" cy="646331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4644" t="-76596" r="-25829" b="-7287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0387D808-62F4-DC90-06A7-F6080D0E5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0734"/>
            <a:ext cx="9144000" cy="2387600"/>
          </a:xfrm>
        </p:spPr>
        <p:txBody>
          <a:bodyPr>
            <a:normAutofit/>
          </a:bodyPr>
          <a:lstStyle/>
          <a:p>
            <a:r>
              <a:rPr lang="de-DE" dirty="0"/>
              <a:t>Amanda Souza Câmara</a:t>
            </a:r>
          </a:p>
          <a:p>
            <a:r>
              <a:rPr lang="de-DE" dirty="0"/>
              <a:t>Leibniz Institute </a:t>
            </a:r>
            <a:r>
              <a:rPr lang="de-DE" dirty="0" err="1"/>
              <a:t>of</a:t>
            </a:r>
            <a:r>
              <a:rPr lang="de-DE" dirty="0"/>
              <a:t> Plant </a:t>
            </a:r>
            <a:r>
              <a:rPr lang="de-DE" dirty="0" err="1"/>
              <a:t>Genetics</a:t>
            </a:r>
            <a:r>
              <a:rPr lang="de-DE" dirty="0"/>
              <a:t> and </a:t>
            </a:r>
            <a:r>
              <a:rPr lang="de-DE" dirty="0" err="1"/>
              <a:t>Crop</a:t>
            </a:r>
            <a:r>
              <a:rPr lang="de-DE" dirty="0"/>
              <a:t> Plant Research</a:t>
            </a:r>
          </a:p>
          <a:p>
            <a:endParaRPr lang="de-DE" dirty="0"/>
          </a:p>
          <a:p>
            <a:endParaRPr lang="de-DE" dirty="0"/>
          </a:p>
          <a:p>
            <a:r>
              <a:rPr lang="en-GB" dirty="0"/>
              <a:t>26 de </a:t>
            </a:r>
            <a:r>
              <a:rPr lang="en-GB" dirty="0" err="1"/>
              <a:t>outubro</a:t>
            </a:r>
            <a:r>
              <a:rPr lang="en-GB" dirty="0"/>
              <a:t> de 2026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FDFD316F-AD5A-6273-3E40-879A466C6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634" y="1122363"/>
            <a:ext cx="9779620" cy="2387600"/>
          </a:xfrm>
        </p:spPr>
        <p:txBody>
          <a:bodyPr/>
          <a:lstStyle/>
          <a:p>
            <a:r>
              <a:rPr lang="en-US" dirty="0" err="1"/>
              <a:t>Construção</a:t>
            </a:r>
            <a:r>
              <a:rPr lang="en-US" dirty="0"/>
              <a:t> de </a:t>
            </a:r>
            <a:r>
              <a:rPr lang="en-US" dirty="0" err="1"/>
              <a:t>mapas</a:t>
            </a:r>
            <a:r>
              <a:rPr lang="en-US" dirty="0"/>
              <a:t> de Hi-C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385334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134DA-D044-1322-B8A2-926E1E82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Como </a:t>
            </a:r>
            <a:r>
              <a:rPr lang="en-US" dirty="0" err="1"/>
              <a:t>construir</a:t>
            </a:r>
            <a:r>
              <a:rPr lang="en-US" dirty="0"/>
              <a:t> o </a:t>
            </a:r>
            <a:r>
              <a:rPr lang="en-US" dirty="0" err="1"/>
              <a:t>mapa</a:t>
            </a:r>
            <a:r>
              <a:rPr lang="en-US" dirty="0"/>
              <a:t> de </a:t>
            </a:r>
            <a:r>
              <a:rPr lang="en-US" dirty="0" err="1"/>
              <a:t>contatos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4966019-79BE-14B1-00DD-15A1FFAC751D}"/>
              </a:ext>
            </a:extLst>
          </p:cNvPr>
          <p:cNvGrpSpPr/>
          <p:nvPr/>
        </p:nvGrpSpPr>
        <p:grpSpPr>
          <a:xfrm>
            <a:off x="176708" y="1400176"/>
            <a:ext cx="10515599" cy="5371232"/>
            <a:chOff x="176709" y="1914526"/>
            <a:chExt cx="10038462" cy="485688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5E00F5F-E47D-C2CD-ABF1-8DD21A1A0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6829" y="1914526"/>
              <a:ext cx="8238342" cy="479972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B6702A0-17C2-E40E-D8F0-725E7E5E7CD1}"/>
                </a:ext>
              </a:extLst>
            </p:cNvPr>
            <p:cNvSpPr txBox="1"/>
            <p:nvPr/>
          </p:nvSpPr>
          <p:spPr>
            <a:xfrm>
              <a:off x="176709" y="6344923"/>
              <a:ext cx="15715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Pal et al, 2018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E353E0-46B4-A324-2D67-D83837C3B920}"/>
                </a:ext>
              </a:extLst>
            </p:cNvPr>
            <p:cNvSpPr/>
            <p:nvPr/>
          </p:nvSpPr>
          <p:spPr>
            <a:xfrm>
              <a:off x="1857375" y="5629277"/>
              <a:ext cx="1800225" cy="11421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4A945EA-55B6-3085-848F-0E6FEA4F63ED}"/>
                </a:ext>
              </a:extLst>
            </p:cNvPr>
            <p:cNvSpPr/>
            <p:nvPr/>
          </p:nvSpPr>
          <p:spPr>
            <a:xfrm>
              <a:off x="4938725" y="5624509"/>
              <a:ext cx="1800225" cy="11421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A4CA37-DEB0-D5B7-1139-3A597BB3A7CA}"/>
              </a:ext>
            </a:extLst>
          </p:cNvPr>
          <p:cNvCxnSpPr>
            <a:cxnSpLocks/>
          </p:cNvCxnSpPr>
          <p:nvPr/>
        </p:nvCxnSpPr>
        <p:spPr>
          <a:xfrm>
            <a:off x="7915275" y="1400176"/>
            <a:ext cx="0" cy="3400685"/>
          </a:xfrm>
          <a:prstGeom prst="line">
            <a:avLst/>
          </a:prstGeom>
          <a:ln w="38100">
            <a:solidFill>
              <a:srgbClr val="92D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5EA0EED-0AA1-A980-5683-C8ADEB9059A5}"/>
              </a:ext>
            </a:extLst>
          </p:cNvPr>
          <p:cNvSpPr txBox="1"/>
          <p:nvPr/>
        </p:nvSpPr>
        <p:spPr>
          <a:xfrm>
            <a:off x="6254344" y="4431529"/>
            <a:ext cx="3179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Experimento</a:t>
            </a:r>
            <a:r>
              <a:rPr lang="en-US" dirty="0"/>
              <a:t>	</a:t>
            </a:r>
            <a:r>
              <a:rPr lang="en-US" dirty="0" err="1"/>
              <a:t>Informática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218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BC9A0-C1BA-8B7A-BB3C-79E78DA0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Como </a:t>
            </a:r>
            <a:r>
              <a:rPr lang="en-US" dirty="0" err="1"/>
              <a:t>construir</a:t>
            </a:r>
            <a:r>
              <a:rPr lang="en-US" dirty="0"/>
              <a:t> o </a:t>
            </a:r>
            <a:r>
              <a:rPr lang="en-US" dirty="0" err="1"/>
              <a:t>mapa</a:t>
            </a:r>
            <a:r>
              <a:rPr lang="en-US" dirty="0"/>
              <a:t> de </a:t>
            </a:r>
            <a:r>
              <a:rPr lang="en-US" dirty="0" err="1"/>
              <a:t>contatos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9C757-0064-CA02-4465-01C0C500D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Ler </a:t>
            </a:r>
            <a:r>
              <a:rPr lang="en-US" dirty="0" err="1"/>
              <a:t>os</a:t>
            </a:r>
            <a:r>
              <a:rPr lang="en-US" dirty="0"/>
              <a:t> pares de </a:t>
            </a:r>
            <a:r>
              <a:rPr lang="en-US" dirty="0" err="1"/>
              <a:t>sequências</a:t>
            </a:r>
            <a:r>
              <a:rPr lang="en-US" dirty="0"/>
              <a:t> de Hi-C</a:t>
            </a:r>
          </a:p>
          <a:p>
            <a:r>
              <a:rPr lang="en-US" dirty="0" err="1"/>
              <a:t>Alinhar</a:t>
            </a:r>
            <a:r>
              <a:rPr lang="en-US" dirty="0"/>
              <a:t> no </a:t>
            </a:r>
            <a:r>
              <a:rPr lang="en-US" dirty="0" err="1"/>
              <a:t>genoma</a:t>
            </a:r>
            <a:r>
              <a:rPr lang="en-US" dirty="0"/>
              <a:t> de </a:t>
            </a:r>
            <a:r>
              <a:rPr lang="en-US" dirty="0" err="1"/>
              <a:t>referênca</a:t>
            </a:r>
            <a:endParaRPr lang="en-US" dirty="0"/>
          </a:p>
          <a:p>
            <a:r>
              <a:rPr lang="en-US" dirty="0" err="1"/>
              <a:t>Identificar</a:t>
            </a:r>
            <a:r>
              <a:rPr lang="en-US" dirty="0"/>
              <a:t> </a:t>
            </a:r>
            <a:r>
              <a:rPr lang="en-US" dirty="0" err="1"/>
              <a:t>sítios</a:t>
            </a:r>
            <a:r>
              <a:rPr lang="en-US" dirty="0"/>
              <a:t> pares</a:t>
            </a:r>
          </a:p>
          <a:p>
            <a:r>
              <a:rPr lang="en-US" dirty="0"/>
              <a:t>Popular a </a:t>
            </a:r>
            <a:r>
              <a:rPr lang="en-US" dirty="0" err="1"/>
              <a:t>matriz</a:t>
            </a:r>
            <a:r>
              <a:rPr lang="en-US" dirty="0"/>
              <a:t> de pares </a:t>
            </a:r>
            <a:r>
              <a:rPr lang="en-US" dirty="0" err="1"/>
              <a:t>sítios</a:t>
            </a:r>
            <a:r>
              <a:rPr lang="en-US" dirty="0"/>
              <a:t> com </a:t>
            </a:r>
            <a:r>
              <a:rPr lang="en-US" dirty="0" err="1"/>
              <a:t>ocorrências</a:t>
            </a:r>
            <a:r>
              <a:rPr lang="en-US" dirty="0"/>
              <a:t> de pares </a:t>
            </a:r>
            <a:r>
              <a:rPr lang="en-US" dirty="0" err="1"/>
              <a:t>observados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429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0D8E9-9BCD-8DDE-3E20-38C447B84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Muitos</a:t>
            </a:r>
            <a:r>
              <a:rPr lang="en-US" dirty="0"/>
              <a:t> pipelines </a:t>
            </a:r>
            <a:r>
              <a:rPr lang="en-US" dirty="0" err="1"/>
              <a:t>diferentes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29871-9611-E0D5-9780-20AA0846F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ICE (</a:t>
            </a:r>
            <a:r>
              <a:rPr lang="en-US" dirty="0" err="1"/>
              <a:t>Imakaev</a:t>
            </a:r>
            <a:r>
              <a:rPr lang="en-US" dirty="0"/>
              <a:t> et al. 2012),</a:t>
            </a:r>
          </a:p>
          <a:p>
            <a:r>
              <a:rPr lang="en-US" dirty="0" err="1"/>
              <a:t>TADbit</a:t>
            </a:r>
            <a:r>
              <a:rPr lang="en-US" dirty="0"/>
              <a:t> (Serra et al. 2017)</a:t>
            </a:r>
          </a:p>
          <a:p>
            <a:r>
              <a:rPr lang="en-US" dirty="0" err="1"/>
              <a:t>HiCUP</a:t>
            </a:r>
            <a:r>
              <a:rPr lang="en-US" dirty="0"/>
              <a:t> (Wingett et al. 2015)</a:t>
            </a:r>
          </a:p>
          <a:p>
            <a:r>
              <a:rPr lang="en-US" dirty="0"/>
              <a:t>HIPPIE (Hwang et al. 2015)</a:t>
            </a:r>
          </a:p>
          <a:p>
            <a:r>
              <a:rPr lang="en-US" dirty="0"/>
              <a:t>Juicer (Durand et al. 2016b) </a:t>
            </a:r>
          </a:p>
          <a:p>
            <a:r>
              <a:rPr lang="en-US" dirty="0" err="1"/>
              <a:t>HiC</a:t>
            </a:r>
            <a:r>
              <a:rPr lang="en-US" dirty="0"/>
              <a:t>-Pro (Servant et al. 2015)</a:t>
            </a:r>
          </a:p>
          <a:p>
            <a:r>
              <a:rPr lang="en-US" dirty="0" err="1"/>
              <a:t>HiCExplorer</a:t>
            </a:r>
            <a:r>
              <a:rPr lang="en-US" dirty="0"/>
              <a:t> (Ramirez et al. 2018)</a:t>
            </a:r>
          </a:p>
          <a:p>
            <a:r>
              <a:rPr lang="en-US" dirty="0"/>
              <a:t>Ferramentas </a:t>
            </a:r>
            <a:r>
              <a:rPr lang="en-US" dirty="0" err="1"/>
              <a:t>independentes</a:t>
            </a:r>
            <a:r>
              <a:rPr lang="en-US" dirty="0"/>
              <a:t> </a:t>
            </a:r>
            <a:r>
              <a:rPr lang="en-US" dirty="0" err="1"/>
              <a:t>combinadas</a:t>
            </a:r>
            <a:r>
              <a:rPr lang="en-US" dirty="0"/>
              <a:t> (</a:t>
            </a:r>
            <a:r>
              <a:rPr lang="en-US" dirty="0" err="1"/>
              <a:t>samtools</a:t>
            </a:r>
            <a:r>
              <a:rPr lang="en-US" dirty="0"/>
              <a:t>, </a:t>
            </a:r>
            <a:r>
              <a:rPr lang="en-US" dirty="0" err="1"/>
              <a:t>cutadapt,bwa</a:t>
            </a:r>
            <a:r>
              <a:rPr lang="en-US" dirty="0"/>
              <a:t>, </a:t>
            </a:r>
            <a:r>
              <a:rPr lang="en-US" dirty="0" err="1"/>
              <a:t>minimap</a:t>
            </a:r>
            <a:r>
              <a:rPr lang="en-US" dirty="0"/>
              <a:t>,…)</a:t>
            </a:r>
          </a:p>
        </p:txBody>
      </p:sp>
    </p:spTree>
    <p:extLst>
      <p:ext uri="{BB962C8B-B14F-4D97-AF65-F5344CB8AC3E}">
        <p14:creationId xmlns:p14="http://schemas.microsoft.com/office/powerpoint/2010/main" val="49112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61983-1537-7092-35D7-3C34B0C67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Juicer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098D40-75DA-B2BF-9FFD-D9A4021F0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971" y="1361168"/>
            <a:ext cx="82838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608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CE9CC-C204-DAAA-46AE-3CD9E8D4C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00FA-19E5-34FA-4D58-8F3C942DE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Juicer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E080FA-5092-A4E5-1E1A-36EB35793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936" y="0"/>
            <a:ext cx="9594064" cy="675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148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D96C4-C56D-7E84-E79C-B74386D8C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E658D-F534-7CB3-4AF0-B2C0BB70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Tudo</a:t>
            </a:r>
            <a:r>
              <a:rPr lang="en-US" dirty="0"/>
              <a:t> com juicer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D7123-21F6-1212-DD49-ACD95EE47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Ler </a:t>
            </a:r>
            <a:r>
              <a:rPr lang="en-US" dirty="0" err="1"/>
              <a:t>os</a:t>
            </a:r>
            <a:r>
              <a:rPr lang="en-US" dirty="0"/>
              <a:t> pares de </a:t>
            </a:r>
            <a:r>
              <a:rPr lang="en-US" dirty="0" err="1"/>
              <a:t>sequências</a:t>
            </a:r>
            <a:r>
              <a:rPr lang="en-US" dirty="0"/>
              <a:t> de Hi-C</a:t>
            </a:r>
          </a:p>
          <a:p>
            <a:r>
              <a:rPr lang="en-US" dirty="0" err="1"/>
              <a:t>Alinhar</a:t>
            </a:r>
            <a:r>
              <a:rPr lang="en-US" dirty="0"/>
              <a:t> no </a:t>
            </a:r>
            <a:r>
              <a:rPr lang="en-US" dirty="0" err="1"/>
              <a:t>genoma</a:t>
            </a:r>
            <a:r>
              <a:rPr lang="en-US" dirty="0"/>
              <a:t> de </a:t>
            </a:r>
            <a:r>
              <a:rPr lang="en-US" dirty="0" err="1"/>
              <a:t>referênca</a:t>
            </a:r>
            <a:endParaRPr lang="en-US" dirty="0"/>
          </a:p>
          <a:p>
            <a:r>
              <a:rPr lang="en-US" dirty="0" err="1"/>
              <a:t>Identificar</a:t>
            </a:r>
            <a:r>
              <a:rPr lang="en-US" dirty="0"/>
              <a:t> </a:t>
            </a:r>
            <a:r>
              <a:rPr lang="en-US" dirty="0" err="1"/>
              <a:t>sítios</a:t>
            </a:r>
            <a:r>
              <a:rPr lang="en-US" dirty="0"/>
              <a:t> pares</a:t>
            </a:r>
          </a:p>
          <a:p>
            <a:r>
              <a:rPr lang="en-US" dirty="0"/>
              <a:t>Popular a </a:t>
            </a:r>
            <a:r>
              <a:rPr lang="en-US" dirty="0" err="1"/>
              <a:t>matriz</a:t>
            </a:r>
            <a:r>
              <a:rPr lang="en-US" dirty="0"/>
              <a:t> de pares </a:t>
            </a:r>
            <a:r>
              <a:rPr lang="en-US" dirty="0" err="1"/>
              <a:t>sítios</a:t>
            </a:r>
            <a:r>
              <a:rPr lang="en-US" dirty="0"/>
              <a:t> com </a:t>
            </a:r>
            <a:r>
              <a:rPr lang="en-US" dirty="0" err="1"/>
              <a:t>ocorrências</a:t>
            </a:r>
            <a:r>
              <a:rPr lang="en-US" dirty="0"/>
              <a:t> de pares </a:t>
            </a:r>
            <a:r>
              <a:rPr lang="en-US" dirty="0" err="1"/>
              <a:t>observados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55CE2E9-4557-5F62-E7ED-BC545EFABB0B}"/>
              </a:ext>
            </a:extLst>
          </p:cNvPr>
          <p:cNvSpPr txBox="1">
            <a:spLocks/>
          </p:cNvSpPr>
          <p:nvPr/>
        </p:nvSpPr>
        <p:spPr>
          <a:xfrm>
            <a:off x="838200" y="48514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Mas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preciso</a:t>
            </a:r>
            <a:r>
              <a:rPr lang="en-US" dirty="0"/>
              <a:t> </a:t>
            </a:r>
            <a:r>
              <a:rPr lang="en-US" dirty="0" err="1"/>
              <a:t>preparar</a:t>
            </a:r>
            <a:r>
              <a:rPr lang="en-US" dirty="0"/>
              <a:t> a </a:t>
            </a:r>
            <a:r>
              <a:rPr lang="en-US" dirty="0" err="1"/>
              <a:t>bancada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062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0609-91C4-BCB4-5816-8522969DC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Instalando</a:t>
            </a:r>
            <a:r>
              <a:rPr lang="en-US" dirty="0"/>
              <a:t> </a:t>
            </a:r>
            <a:r>
              <a:rPr lang="en-US" dirty="0" err="1"/>
              <a:t>dependências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DB877-7AA1-74E2-7CDA-117B3D614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  <a:p>
            <a:r>
              <a:rPr lang="en-US" dirty="0"/>
              <a:t>Python </a:t>
            </a:r>
            <a:r>
              <a:rPr lang="en-US" dirty="0" err="1"/>
              <a:t>normalmente</a:t>
            </a:r>
            <a:r>
              <a:rPr lang="en-US" dirty="0"/>
              <a:t> </a:t>
            </a:r>
            <a:r>
              <a:rPr lang="en-US" dirty="0" err="1"/>
              <a:t>já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instalado</a:t>
            </a:r>
            <a:endParaRPr lang="en-US" dirty="0"/>
          </a:p>
          <a:p>
            <a:endParaRPr lang="en-US" dirty="0"/>
          </a:p>
          <a:p>
            <a:r>
              <a:rPr lang="en-US" dirty="0"/>
              <a:t>Bwa, </a:t>
            </a:r>
            <a:r>
              <a:rPr lang="en-US" dirty="0" err="1"/>
              <a:t>samtools</a:t>
            </a:r>
            <a:r>
              <a:rPr lang="en-US" dirty="0"/>
              <a:t> e java no mac:</a:t>
            </a:r>
          </a:p>
          <a:p>
            <a:r>
              <a:rPr lang="en-US" dirty="0"/>
              <a:t>brew install </a:t>
            </a:r>
            <a:r>
              <a:rPr lang="en-US" dirty="0" err="1"/>
              <a:t>samtools</a:t>
            </a:r>
            <a:endParaRPr lang="en-US" dirty="0"/>
          </a:p>
          <a:p>
            <a:r>
              <a:rPr lang="en-US" dirty="0"/>
              <a:t>brew install bwa</a:t>
            </a:r>
          </a:p>
          <a:p>
            <a:r>
              <a:rPr lang="en-US" dirty="0"/>
              <a:t>brew install </a:t>
            </a:r>
            <a:r>
              <a:rPr lang="en-US" dirty="0" err="1"/>
              <a:t>openjdk</a:t>
            </a:r>
            <a:endParaRPr lang="en-US" dirty="0"/>
          </a:p>
          <a:p>
            <a:endParaRPr lang="en-US" dirty="0"/>
          </a:p>
          <a:p>
            <a:r>
              <a:rPr lang="en-US" dirty="0"/>
              <a:t>No </a:t>
            </a:r>
            <a:r>
              <a:rPr lang="en-US" dirty="0" err="1"/>
              <a:t>linux</a:t>
            </a:r>
            <a:r>
              <a:rPr lang="en-US" dirty="0"/>
              <a:t>:</a:t>
            </a:r>
          </a:p>
          <a:p>
            <a:r>
              <a:rPr lang="en-US" dirty="0" err="1"/>
              <a:t>sudo</a:t>
            </a:r>
            <a:r>
              <a:rPr lang="en-US" dirty="0"/>
              <a:t> apt update </a:t>
            </a:r>
          </a:p>
          <a:p>
            <a:r>
              <a:rPr lang="en-US" dirty="0" err="1"/>
              <a:t>sudo</a:t>
            </a:r>
            <a:r>
              <a:rPr lang="en-US" dirty="0"/>
              <a:t> apt-get install </a:t>
            </a:r>
            <a:r>
              <a:rPr lang="en-US" dirty="0" err="1"/>
              <a:t>samtools</a:t>
            </a:r>
            <a:endParaRPr lang="en-US" dirty="0"/>
          </a:p>
          <a:p>
            <a:r>
              <a:rPr lang="en-US" dirty="0" err="1"/>
              <a:t>sudo</a:t>
            </a:r>
            <a:r>
              <a:rPr lang="en-US" dirty="0"/>
              <a:t> apt install bwa</a:t>
            </a:r>
          </a:p>
          <a:p>
            <a:r>
              <a:rPr lang="en-US" dirty="0" err="1"/>
              <a:t>sudo</a:t>
            </a:r>
            <a:r>
              <a:rPr lang="en-US" dirty="0"/>
              <a:t> apt install default-</a:t>
            </a:r>
            <a:r>
              <a:rPr lang="en-US" dirty="0" err="1"/>
              <a:t>jdk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786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2916-C0EA-CCD0-87EB-C695D975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Organizar</a:t>
            </a:r>
            <a:r>
              <a:rPr lang="en-US" dirty="0"/>
              <a:t> pastas (</a:t>
            </a:r>
            <a:r>
              <a:rPr lang="en-US" dirty="0" err="1"/>
              <a:t>diretórios</a:t>
            </a:r>
            <a:r>
              <a:rPr lang="en-US" dirty="0"/>
              <a:t>) e </a:t>
            </a:r>
            <a:r>
              <a:rPr lang="en-US" dirty="0" err="1"/>
              <a:t>arquivos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B1620A-350E-7C8B-5194-040BDA144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1"/>
            <a:r>
              <a:rPr lang="en-US" dirty="0" err="1"/>
              <a:t>Preparar</a:t>
            </a:r>
            <a:r>
              <a:rPr lang="en-US" dirty="0"/>
              <a:t> o juicer para encontrar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arquivos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locais</a:t>
            </a:r>
            <a:r>
              <a:rPr lang="en-US" dirty="0"/>
              <a:t> </a:t>
            </a:r>
            <a:r>
              <a:rPr lang="en-US" dirty="0" err="1"/>
              <a:t>certos</a:t>
            </a:r>
            <a:endParaRPr lang="en-US" dirty="0"/>
          </a:p>
          <a:p>
            <a:r>
              <a:rPr lang="en-US" dirty="0"/>
              <a:t>Ler </a:t>
            </a:r>
            <a:r>
              <a:rPr lang="en-US" dirty="0" err="1"/>
              <a:t>os</a:t>
            </a:r>
            <a:r>
              <a:rPr lang="en-US" dirty="0"/>
              <a:t> pares de </a:t>
            </a:r>
            <a:r>
              <a:rPr lang="en-US" dirty="0" err="1"/>
              <a:t>sequências</a:t>
            </a:r>
            <a:r>
              <a:rPr lang="en-US" dirty="0"/>
              <a:t> de Hi-C</a:t>
            </a:r>
          </a:p>
          <a:p>
            <a:pPr lvl="1"/>
            <a:r>
              <a:rPr lang="en-US" dirty="0" err="1"/>
              <a:t>Preparar</a:t>
            </a:r>
            <a:r>
              <a:rPr lang="en-US" dirty="0"/>
              <a:t> </a:t>
            </a:r>
            <a:r>
              <a:rPr lang="en-US" dirty="0" err="1"/>
              <a:t>arquivos</a:t>
            </a:r>
            <a:r>
              <a:rPr lang="en-US" dirty="0"/>
              <a:t> </a:t>
            </a:r>
            <a:r>
              <a:rPr lang="en-US" dirty="0" err="1"/>
              <a:t>fastq</a:t>
            </a:r>
            <a:r>
              <a:rPr lang="en-US" dirty="0"/>
              <a:t> R1 e R2</a:t>
            </a:r>
          </a:p>
          <a:p>
            <a:r>
              <a:rPr lang="en-US" dirty="0" err="1"/>
              <a:t>Alinhar</a:t>
            </a:r>
            <a:r>
              <a:rPr lang="en-US" dirty="0"/>
              <a:t> no </a:t>
            </a:r>
            <a:r>
              <a:rPr lang="en-US" dirty="0" err="1"/>
              <a:t>genoma</a:t>
            </a:r>
            <a:r>
              <a:rPr lang="en-US" dirty="0"/>
              <a:t> de </a:t>
            </a:r>
            <a:r>
              <a:rPr lang="en-US" dirty="0" err="1"/>
              <a:t>referênca</a:t>
            </a:r>
            <a:endParaRPr lang="en-US" dirty="0"/>
          </a:p>
          <a:p>
            <a:pPr lvl="1"/>
            <a:r>
              <a:rPr lang="en-US" dirty="0" err="1"/>
              <a:t>Preparar</a:t>
            </a:r>
            <a:r>
              <a:rPr lang="en-US" dirty="0"/>
              <a:t> o </a:t>
            </a:r>
            <a:r>
              <a:rPr lang="en-US" dirty="0" err="1"/>
              <a:t>genoma</a:t>
            </a:r>
            <a:r>
              <a:rPr lang="en-US" dirty="0"/>
              <a:t> para ser lido </a:t>
            </a:r>
          </a:p>
          <a:p>
            <a:pPr lvl="1"/>
            <a:r>
              <a:rPr lang="en-US" dirty="0"/>
              <a:t>Encontrar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possíveis</a:t>
            </a:r>
            <a:r>
              <a:rPr lang="en-US" dirty="0"/>
              <a:t> </a:t>
            </a:r>
            <a:r>
              <a:rPr lang="en-US" dirty="0" err="1"/>
              <a:t>sítios</a:t>
            </a:r>
            <a:r>
              <a:rPr lang="en-US" dirty="0"/>
              <a:t> de </a:t>
            </a:r>
            <a:r>
              <a:rPr lang="en-US" dirty="0" err="1"/>
              <a:t>digestão</a:t>
            </a:r>
            <a:endParaRPr lang="en-US" dirty="0"/>
          </a:p>
          <a:p>
            <a:r>
              <a:rPr lang="en-US" dirty="0" err="1"/>
              <a:t>Identificar</a:t>
            </a:r>
            <a:r>
              <a:rPr lang="en-US" dirty="0"/>
              <a:t> </a:t>
            </a:r>
            <a:r>
              <a:rPr lang="en-US" dirty="0" err="1"/>
              <a:t>sítios</a:t>
            </a:r>
            <a:r>
              <a:rPr lang="en-US" dirty="0"/>
              <a:t> </a:t>
            </a:r>
            <a:r>
              <a:rPr lang="en-US" dirty="0" err="1"/>
              <a:t>pareados</a:t>
            </a:r>
            <a:endParaRPr lang="en-US" dirty="0"/>
          </a:p>
          <a:p>
            <a:r>
              <a:rPr lang="en-US" dirty="0"/>
              <a:t>Popular a </a:t>
            </a:r>
            <a:r>
              <a:rPr lang="en-US" dirty="0" err="1"/>
              <a:t>matriz</a:t>
            </a:r>
            <a:r>
              <a:rPr lang="en-US" dirty="0"/>
              <a:t> de pares de </a:t>
            </a:r>
            <a:r>
              <a:rPr lang="en-US" dirty="0" err="1"/>
              <a:t>sítios</a:t>
            </a:r>
            <a:r>
              <a:rPr lang="en-US" dirty="0"/>
              <a:t> com </a:t>
            </a:r>
            <a:r>
              <a:rPr lang="en-US" dirty="0" err="1"/>
              <a:t>ocorrências</a:t>
            </a:r>
            <a:r>
              <a:rPr lang="en-US" dirty="0"/>
              <a:t> de pares </a:t>
            </a:r>
            <a:r>
              <a:rPr lang="en-US" dirty="0" err="1"/>
              <a:t>observados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276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E720-D112-CA4F-08DA-5901F3A45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Preparando</a:t>
            </a:r>
            <a:r>
              <a:rPr lang="en-US" dirty="0"/>
              <a:t> o juicer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A8574-2E1A-D4EB-4C8F-787C57A7E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 err="1"/>
              <a:t>Crie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pasta para as </a:t>
            </a:r>
            <a:r>
              <a:rPr lang="en-US" dirty="0" err="1"/>
              <a:t>análises</a:t>
            </a:r>
            <a:r>
              <a:rPr lang="en-US" dirty="0"/>
              <a:t> do </a:t>
            </a:r>
            <a:r>
              <a:rPr lang="en-US" dirty="0" err="1"/>
              <a:t>curso</a:t>
            </a:r>
            <a:r>
              <a:rPr lang="en-US" dirty="0"/>
              <a:t>, </a:t>
            </a:r>
            <a:r>
              <a:rPr lang="en-US" dirty="0" err="1"/>
              <a:t>dentro</a:t>
            </a:r>
            <a:r>
              <a:rPr lang="en-US" dirty="0"/>
              <a:t> dela:</a:t>
            </a:r>
          </a:p>
          <a:p>
            <a:r>
              <a:rPr lang="en-US" dirty="0"/>
              <a:t>git clone </a:t>
            </a:r>
            <a:r>
              <a:rPr lang="en-US" dirty="0">
                <a:hlinkClick r:id="rId2"/>
              </a:rPr>
              <a:t>https://github.com/theaidenlab/juicer.git</a:t>
            </a:r>
            <a:r>
              <a:rPr lang="en-US" dirty="0"/>
              <a:t> # </a:t>
            </a:r>
            <a:r>
              <a:rPr lang="en-US" dirty="0" err="1"/>
              <a:t>baixar</a:t>
            </a:r>
            <a:r>
              <a:rPr lang="en-US" dirty="0"/>
              <a:t> o juicer do </a:t>
            </a:r>
            <a:r>
              <a:rPr lang="en-US" dirty="0" err="1"/>
              <a:t>github</a:t>
            </a:r>
            <a:endParaRPr lang="en-US" dirty="0"/>
          </a:p>
          <a:p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myjuicer</a:t>
            </a:r>
            <a:endParaRPr lang="en-US" dirty="0"/>
          </a:p>
          <a:p>
            <a:r>
              <a:rPr lang="en-US" dirty="0"/>
              <a:t>cd </a:t>
            </a:r>
            <a:r>
              <a:rPr lang="en-US" dirty="0" err="1"/>
              <a:t>myjuicer</a:t>
            </a:r>
            <a:endParaRPr lang="en-US" dirty="0"/>
          </a:p>
          <a:p>
            <a:r>
              <a:rPr lang="en-US" dirty="0"/>
              <a:t>ln -s ../juicer/CPU scripts # </a:t>
            </a:r>
            <a:r>
              <a:rPr lang="en-US" dirty="0" err="1"/>
              <a:t>copia</a:t>
            </a:r>
            <a:r>
              <a:rPr lang="en-US" dirty="0"/>
              <a:t> scripts do juicer para </a:t>
            </a:r>
            <a:r>
              <a:rPr lang="en-US" dirty="0" err="1"/>
              <a:t>sua</a:t>
            </a:r>
            <a:r>
              <a:rPr lang="en-US" dirty="0"/>
              <a:t> propria pasta</a:t>
            </a:r>
          </a:p>
          <a:p>
            <a:r>
              <a:rPr lang="en-US" dirty="0"/>
              <a:t>cd scripts/common</a:t>
            </a:r>
          </a:p>
          <a:p>
            <a:r>
              <a:rPr lang="en-US" dirty="0" err="1"/>
              <a:t>wget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https://hicfiles.tc4ga.com/public/juicer/juicer_tools.1.9.9_jcuda.0.8.jar</a:t>
            </a:r>
            <a:r>
              <a:rPr lang="en-US" dirty="0"/>
              <a:t> # </a:t>
            </a:r>
            <a:r>
              <a:rPr lang="en-US" dirty="0" err="1"/>
              <a:t>baixar</a:t>
            </a:r>
            <a:r>
              <a:rPr lang="en-US" dirty="0"/>
              <a:t> o </a:t>
            </a:r>
            <a:r>
              <a:rPr lang="en-US" dirty="0" err="1"/>
              <a:t>pacote</a:t>
            </a:r>
            <a:r>
              <a:rPr lang="en-US" dirty="0"/>
              <a:t> de ferramentas do juicer</a:t>
            </a:r>
          </a:p>
          <a:p>
            <a:r>
              <a:rPr lang="en-US" dirty="0"/>
              <a:t>ln -s juicer_tools.1.9.9_jcuda.0.8.jar </a:t>
            </a:r>
            <a:r>
              <a:rPr lang="en-US" dirty="0" err="1"/>
              <a:t>juicer_tools.jar</a:t>
            </a:r>
            <a:endParaRPr lang="en-US" dirty="0"/>
          </a:p>
          <a:p>
            <a:r>
              <a:rPr lang="en-US" dirty="0"/>
              <a:t>cd ../.. # volta para </a:t>
            </a:r>
            <a:r>
              <a:rPr lang="en-US" dirty="0" err="1"/>
              <a:t>myjuicer</a:t>
            </a:r>
            <a:endParaRPr lang="en-US" dirty="0"/>
          </a:p>
          <a:p>
            <a:r>
              <a:rPr lang="en-US" dirty="0" err="1"/>
              <a:t>mkdir</a:t>
            </a:r>
            <a:r>
              <a:rPr lang="en-US" dirty="0"/>
              <a:t> references</a:t>
            </a:r>
          </a:p>
          <a:p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restrictions_sites</a:t>
            </a:r>
            <a:endParaRPr lang="en-US" dirty="0"/>
          </a:p>
          <a:p>
            <a:endParaRPr lang="en-US" dirty="0"/>
          </a:p>
          <a:p>
            <a:r>
              <a:rPr lang="en-US" dirty="0"/>
              <a:t>Só para mac, </a:t>
            </a:r>
            <a:r>
              <a:rPr lang="en-US" dirty="0" err="1"/>
              <a:t>substituir</a:t>
            </a:r>
            <a:r>
              <a:rPr lang="en-US" dirty="0"/>
              <a:t> </a:t>
            </a:r>
            <a:r>
              <a:rPr lang="en-US" dirty="0" err="1"/>
              <a:t>comando</a:t>
            </a:r>
            <a:r>
              <a:rPr lang="en-US" dirty="0"/>
              <a:t> awk </a:t>
            </a:r>
            <a:r>
              <a:rPr lang="en-US" dirty="0" err="1"/>
              <a:t>por</a:t>
            </a:r>
            <a:r>
              <a:rPr lang="en-US" dirty="0"/>
              <a:t> gawk no script principal do juicer</a:t>
            </a:r>
          </a:p>
          <a:p>
            <a:r>
              <a:rPr lang="en-US" dirty="0"/>
              <a:t>brew install gawk</a:t>
            </a:r>
          </a:p>
          <a:p>
            <a:r>
              <a:rPr lang="en-US" b="1" dirty="0"/>
              <a:t>alias</a:t>
            </a:r>
            <a:r>
              <a:rPr lang="en-US" dirty="0"/>
              <a:t> awk=/opt/homebrew/bin/gawk</a:t>
            </a:r>
          </a:p>
          <a:p>
            <a:r>
              <a:rPr lang="en-US" dirty="0"/>
              <a:t>sed -</a:t>
            </a:r>
            <a:r>
              <a:rPr lang="en-US" dirty="0" err="1"/>
              <a:t>i</a:t>
            </a:r>
            <a:r>
              <a:rPr lang="en-US" dirty="0"/>
              <a:t> '' '545s/awk /gawk /;547s/awk /gawk /;552s/awk /gawk /;554s/awk /gawk /' scripts/</a:t>
            </a:r>
            <a:r>
              <a:rPr lang="en-US" dirty="0" err="1"/>
              <a:t>juicer.sh</a:t>
            </a:r>
            <a:endParaRPr lang="en-US" dirty="0"/>
          </a:p>
          <a:p>
            <a:r>
              <a:rPr lang="en-US" dirty="0"/>
              <a:t>sed -</a:t>
            </a:r>
            <a:r>
              <a:rPr lang="en-US" dirty="0" err="1"/>
              <a:t>i</a:t>
            </a:r>
            <a:r>
              <a:rPr lang="en-US" dirty="0"/>
              <a:t> '' 's/| awk -f \$</a:t>
            </a:r>
            <a:r>
              <a:rPr lang="en-US" dirty="0" err="1"/>
              <a:t>juiceDir</a:t>
            </a:r>
            <a:r>
              <a:rPr lang="en-US" dirty="0"/>
              <a:t>\/scripts\/common\/</a:t>
            </a:r>
            <a:r>
              <a:rPr lang="en-US" dirty="0" err="1"/>
              <a:t>dups_sam.awk</a:t>
            </a:r>
            <a:r>
              <a:rPr lang="en-US" dirty="0"/>
              <a:t>/| gawk -f $</a:t>
            </a:r>
            <a:r>
              <a:rPr lang="en-US" dirty="0" err="1"/>
              <a:t>juiceDir</a:t>
            </a:r>
            <a:r>
              <a:rPr lang="en-US" dirty="0"/>
              <a:t>\/scripts\/common\/</a:t>
            </a:r>
            <a:r>
              <a:rPr lang="en-US" dirty="0" err="1"/>
              <a:t>dups_sam.awk</a:t>
            </a:r>
            <a:r>
              <a:rPr lang="en-US" dirty="0"/>
              <a:t>/g' scripts/</a:t>
            </a:r>
            <a:r>
              <a:rPr lang="en-US" dirty="0" err="1"/>
              <a:t>juicer.sh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226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675BC-B7C1-48D4-A419-19BD6CEC8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75892-2C2D-DE62-2677-EA1113134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Arquivos</a:t>
            </a:r>
            <a:r>
              <a:rPr lang="en-US" dirty="0"/>
              <a:t> de pares de </a:t>
            </a:r>
            <a:r>
              <a:rPr lang="en-US" dirty="0" err="1"/>
              <a:t>sequências</a:t>
            </a:r>
            <a:r>
              <a:rPr lang="en-US" dirty="0"/>
              <a:t> de Hi-C, </a:t>
            </a:r>
            <a:r>
              <a:rPr lang="en-US" dirty="0" err="1"/>
              <a:t>fastq</a:t>
            </a:r>
            <a:r>
              <a:rPr lang="en-US" dirty="0"/>
              <a:t> (x2)</a:t>
            </a:r>
          </a:p>
          <a:p>
            <a:r>
              <a:rPr lang="en-US" dirty="0" err="1"/>
              <a:t>Sequência</a:t>
            </a:r>
            <a:r>
              <a:rPr lang="en-US" dirty="0"/>
              <a:t> do </a:t>
            </a:r>
            <a:r>
              <a:rPr lang="en-US" dirty="0" err="1"/>
              <a:t>genoma</a:t>
            </a:r>
            <a:r>
              <a:rPr lang="en-US" dirty="0"/>
              <a:t> de </a:t>
            </a:r>
            <a:r>
              <a:rPr lang="en-US" dirty="0" err="1"/>
              <a:t>referência</a:t>
            </a:r>
            <a:r>
              <a:rPr lang="en-US" dirty="0"/>
              <a:t>, </a:t>
            </a:r>
            <a:r>
              <a:rPr lang="en-US" dirty="0" err="1"/>
              <a:t>fasta</a:t>
            </a:r>
            <a:endParaRPr lang="en-US" dirty="0"/>
          </a:p>
          <a:p>
            <a:r>
              <a:rPr lang="en-US" dirty="0" err="1"/>
              <a:t>Informação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enzimas</a:t>
            </a:r>
            <a:r>
              <a:rPr lang="en-US" dirty="0"/>
              <a:t> de </a:t>
            </a:r>
            <a:r>
              <a:rPr lang="en-US" dirty="0" err="1"/>
              <a:t>digestão</a:t>
            </a:r>
            <a:r>
              <a:rPr lang="en-US" dirty="0"/>
              <a:t> </a:t>
            </a:r>
            <a:r>
              <a:rPr lang="en-US" dirty="0" err="1"/>
              <a:t>usadas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5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8A69C-E068-D161-7A21-2002930A8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2865-8019-2680-B807-A5E20B70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Nosso</a:t>
            </a:r>
            <a:r>
              <a:rPr lang="en-US" dirty="0"/>
              <a:t> </a:t>
            </a:r>
            <a:r>
              <a:rPr lang="en-US" dirty="0" err="1"/>
              <a:t>exemplo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4F62C3-1170-BB6B-B049-ADF633837F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78882"/>
            <a:ext cx="8589947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3B8840-1B80-63E4-AFE4-657302FF1516}"/>
              </a:ext>
            </a:extLst>
          </p:cNvPr>
          <p:cNvSpPr txBox="1"/>
          <p:nvPr/>
        </p:nvSpPr>
        <p:spPr>
          <a:xfrm>
            <a:off x="961838" y="6226629"/>
            <a:ext cx="7220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www.cell.com</a:t>
            </a:r>
            <a:r>
              <a:rPr lang="en-US" dirty="0"/>
              <a:t>/molecular-cell/abstract/S1097-2765(26)00233-9</a:t>
            </a:r>
          </a:p>
        </p:txBody>
      </p:sp>
    </p:spTree>
    <p:extLst>
      <p:ext uri="{BB962C8B-B14F-4D97-AF65-F5344CB8AC3E}">
        <p14:creationId xmlns:p14="http://schemas.microsoft.com/office/powerpoint/2010/main" val="2380534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4E5E-BAB9-AFE4-1A9B-323056904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Encontrar </a:t>
            </a:r>
            <a:r>
              <a:rPr lang="en-US" dirty="0" err="1"/>
              <a:t>informações</a:t>
            </a:r>
            <a:r>
              <a:rPr lang="en-US" dirty="0"/>
              <a:t> de entrada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7EE59-C4BC-452B-44E6-2B10B43CC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92883" cy="4351338"/>
          </a:xfrm>
        </p:spPr>
        <p:txBody>
          <a:bodyPr/>
          <a:lstStyle/>
          <a:p>
            <a:r>
              <a:rPr lang="en-US" dirty="0"/>
              <a:t>Onde </a:t>
            </a:r>
            <a:r>
              <a:rPr lang="en-US" dirty="0" err="1"/>
              <a:t>estão</a:t>
            </a:r>
            <a:r>
              <a:rPr lang="en-US" dirty="0"/>
              <a:t> </a:t>
            </a:r>
            <a:r>
              <a:rPr lang="en-US" dirty="0" err="1"/>
              <a:t>guardados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arquivos</a:t>
            </a:r>
            <a:r>
              <a:rPr lang="en-US" dirty="0"/>
              <a:t> de pares de </a:t>
            </a:r>
            <a:r>
              <a:rPr lang="en-US" dirty="0" err="1"/>
              <a:t>sequências</a:t>
            </a:r>
            <a:r>
              <a:rPr lang="en-US" dirty="0"/>
              <a:t> de Hi-C (</a:t>
            </a:r>
            <a:r>
              <a:rPr lang="en-US" dirty="0" err="1"/>
              <a:t>fastq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Normalmente</a:t>
            </a:r>
            <a:r>
              <a:rPr lang="en-US" dirty="0"/>
              <a:t> no Sequence Read Archive (SRA da NCBI, </a:t>
            </a:r>
            <a:r>
              <a:rPr lang="en-US" dirty="0" err="1"/>
              <a:t>criado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2007, </a:t>
            </a:r>
            <a:r>
              <a:rPr lang="en-US" dirty="0">
                <a:hlinkClick r:id="rId2"/>
              </a:rPr>
              <a:t>https://en.wikipedia.org/wiki/Sequence_Read_Archive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Qual </a:t>
            </a:r>
            <a:r>
              <a:rPr lang="en-US" dirty="0" err="1"/>
              <a:t>foi</a:t>
            </a:r>
            <a:r>
              <a:rPr lang="en-US" dirty="0"/>
              <a:t> o </a:t>
            </a:r>
            <a:r>
              <a:rPr lang="en-US" dirty="0" err="1"/>
              <a:t>genoma</a:t>
            </a:r>
            <a:r>
              <a:rPr lang="en-US" dirty="0"/>
              <a:t> de </a:t>
            </a:r>
            <a:r>
              <a:rPr lang="en-US" dirty="0" err="1"/>
              <a:t>referência</a:t>
            </a:r>
            <a:r>
              <a:rPr lang="en-US" dirty="0"/>
              <a:t> e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encontrá</a:t>
            </a:r>
            <a:r>
              <a:rPr lang="en-US" dirty="0"/>
              <a:t>-lo</a:t>
            </a:r>
          </a:p>
          <a:p>
            <a:endParaRPr lang="en-US" dirty="0"/>
          </a:p>
          <a:p>
            <a:r>
              <a:rPr lang="en-US" dirty="0"/>
              <a:t>Qual </a:t>
            </a:r>
            <a:r>
              <a:rPr lang="en-US" dirty="0" err="1"/>
              <a:t>foi</a:t>
            </a:r>
            <a:r>
              <a:rPr lang="en-US" dirty="0"/>
              <a:t> a </a:t>
            </a:r>
            <a:r>
              <a:rPr lang="en-US" dirty="0" err="1"/>
              <a:t>enzima</a:t>
            </a:r>
            <a:r>
              <a:rPr lang="en-US" dirty="0"/>
              <a:t> de </a:t>
            </a:r>
            <a:r>
              <a:rPr lang="en-US" dirty="0" err="1"/>
              <a:t>digestão</a:t>
            </a:r>
            <a:r>
              <a:rPr lang="en-US" dirty="0"/>
              <a:t> </a:t>
            </a:r>
            <a:r>
              <a:rPr lang="en-US" dirty="0" err="1"/>
              <a:t>usada</a:t>
            </a:r>
            <a:r>
              <a:rPr lang="en-US" dirty="0"/>
              <a:t>?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898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C7D60-69C4-E0CD-AA09-B609E30B0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2A35D-C380-C027-6070-0B81B5C30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Organizando</a:t>
            </a:r>
            <a:r>
              <a:rPr lang="en-US" dirty="0"/>
              <a:t> dados de entrada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72E2F-41FD-369B-7DC0-ED214A2BA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Na pasta </a:t>
            </a:r>
            <a:r>
              <a:rPr lang="en-US" dirty="0" err="1"/>
              <a:t>myjuicer</a:t>
            </a:r>
            <a:endParaRPr lang="en-US" dirty="0"/>
          </a:p>
          <a:p>
            <a:r>
              <a:rPr lang="en-US" dirty="0" err="1"/>
              <a:t>Baixar</a:t>
            </a:r>
            <a:r>
              <a:rPr lang="en-US" dirty="0"/>
              <a:t> o toolkit do </a:t>
            </a:r>
            <a:r>
              <a:rPr lang="en-US" dirty="0" err="1"/>
              <a:t>sra</a:t>
            </a:r>
            <a:r>
              <a:rPr lang="en-US" dirty="0"/>
              <a:t> para </a:t>
            </a:r>
            <a:r>
              <a:rPr lang="en-US" dirty="0" err="1"/>
              <a:t>baixar</a:t>
            </a:r>
            <a:r>
              <a:rPr lang="en-US" dirty="0"/>
              <a:t> </a:t>
            </a:r>
            <a:r>
              <a:rPr lang="en-US" dirty="0" err="1"/>
              <a:t>arquivos</a:t>
            </a:r>
            <a:r>
              <a:rPr lang="en-US" dirty="0"/>
              <a:t> </a:t>
            </a:r>
            <a:r>
              <a:rPr lang="en-US" dirty="0" err="1"/>
              <a:t>fastq</a:t>
            </a:r>
            <a:r>
              <a:rPr lang="en-US" dirty="0"/>
              <a:t> com </a:t>
            </a:r>
            <a:r>
              <a:rPr lang="en-US" dirty="0" err="1"/>
              <a:t>uma</a:t>
            </a:r>
            <a:r>
              <a:rPr lang="en-US" dirty="0"/>
              <a:t> das duas </a:t>
            </a:r>
            <a:r>
              <a:rPr lang="en-US" dirty="0" err="1"/>
              <a:t>opções</a:t>
            </a:r>
            <a:endParaRPr lang="en-US" dirty="0"/>
          </a:p>
          <a:p>
            <a:pPr lvl="1"/>
            <a:r>
              <a:rPr lang="en-US" dirty="0"/>
              <a:t>curl -L -o </a:t>
            </a:r>
            <a:r>
              <a:rPr lang="en-US" dirty="0" err="1"/>
              <a:t>sratoolkit.tar.gz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https://ftp-trace.ncbi.nlm.nih.gov/sra/sdk/current/sratoolkit.current-mac-arm64.tar.gz</a:t>
            </a:r>
            <a:endParaRPr lang="en-US" dirty="0"/>
          </a:p>
          <a:p>
            <a:pPr lvl="1"/>
            <a:r>
              <a:rPr lang="en-US" dirty="0"/>
              <a:t>curl -L -o </a:t>
            </a:r>
            <a:r>
              <a:rPr lang="en-US" dirty="0" err="1"/>
              <a:t>sratoolkit.tar.gz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https://ftp-trace.ncbi.nlm.nih.gov/sra/sdk/current/sratoolkit.current-alma_linux64.tar.gz</a:t>
            </a:r>
            <a:r>
              <a:rPr lang="en-US" dirty="0"/>
              <a:t>tar -</a:t>
            </a:r>
            <a:r>
              <a:rPr lang="en-US" dirty="0" err="1"/>
              <a:t>xvzf</a:t>
            </a:r>
            <a:r>
              <a:rPr lang="en-US" dirty="0"/>
              <a:t> </a:t>
            </a:r>
            <a:r>
              <a:rPr lang="en-US" dirty="0" err="1"/>
              <a:t>sratoolkit.tar.gz</a:t>
            </a:r>
            <a:endParaRPr lang="en-US" dirty="0"/>
          </a:p>
          <a:p>
            <a:r>
              <a:rPr lang="en-US" dirty="0"/>
              <a:t>tar -</a:t>
            </a:r>
            <a:r>
              <a:rPr lang="en-US" dirty="0" err="1"/>
              <a:t>xvzf</a:t>
            </a:r>
            <a:r>
              <a:rPr lang="en-US" dirty="0"/>
              <a:t> </a:t>
            </a:r>
            <a:r>
              <a:rPr lang="en-US" dirty="0" err="1"/>
              <a:t>sratoolkit.tar.gz</a:t>
            </a:r>
            <a:endParaRPr lang="en-US" dirty="0"/>
          </a:p>
          <a:p>
            <a:pPr lvl="1"/>
            <a:r>
              <a:rPr lang="en-US" b="1" dirty="0"/>
              <a:t>export</a:t>
            </a:r>
            <a:r>
              <a:rPr lang="en-US" dirty="0"/>
              <a:t> PATH="$PWD/sratoolkit.3.4.1-alma_linux64/bin:$PATH”</a:t>
            </a:r>
          </a:p>
          <a:p>
            <a:pPr lvl="1"/>
            <a:r>
              <a:rPr lang="en-US" b="1" dirty="0"/>
              <a:t>export</a:t>
            </a:r>
            <a:r>
              <a:rPr lang="en-US" dirty="0"/>
              <a:t> PATH="$PWD/sratoolkit.3.4.1-mac-arm64/bin:$PATH”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Na </a:t>
            </a:r>
            <a:r>
              <a:rPr lang="en-US" dirty="0" err="1"/>
              <a:t>sua</a:t>
            </a:r>
            <a:r>
              <a:rPr lang="en-US" dirty="0"/>
              <a:t> pasta do </a:t>
            </a:r>
            <a:r>
              <a:rPr lang="en-US" dirty="0" err="1"/>
              <a:t>curso</a:t>
            </a:r>
            <a:endParaRPr lang="en-US" dirty="0"/>
          </a:p>
          <a:p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cohesin_dosage_example</a:t>
            </a:r>
            <a:endParaRPr lang="en-US" dirty="0"/>
          </a:p>
          <a:p>
            <a:r>
              <a:rPr lang="en-US" dirty="0"/>
              <a:t>cd </a:t>
            </a:r>
            <a:r>
              <a:rPr lang="en-US" dirty="0" err="1"/>
              <a:t>cohesin_dosage_example</a:t>
            </a:r>
            <a:endParaRPr lang="en-US" dirty="0"/>
          </a:p>
          <a:p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fastq</a:t>
            </a:r>
            <a:endParaRPr lang="en-US" dirty="0"/>
          </a:p>
          <a:p>
            <a:r>
              <a:rPr lang="en-US" dirty="0"/>
              <a:t>cd </a:t>
            </a:r>
            <a:r>
              <a:rPr lang="en-US" dirty="0" err="1"/>
              <a:t>fastq</a:t>
            </a:r>
            <a:endParaRPr lang="en-US" dirty="0"/>
          </a:p>
          <a:p>
            <a:r>
              <a:rPr lang="en-US" dirty="0"/>
              <a:t>prefetch SRR30953179</a:t>
            </a:r>
          </a:p>
          <a:p>
            <a:r>
              <a:rPr lang="en-US" dirty="0" err="1"/>
              <a:t>fasterq</a:t>
            </a:r>
            <a:r>
              <a:rPr lang="en-US" dirty="0"/>
              <a:t>-dump --split-files SRR30953179</a:t>
            </a:r>
          </a:p>
          <a:p>
            <a:r>
              <a:rPr lang="en-US" dirty="0"/>
              <a:t># mudar </a:t>
            </a:r>
            <a:r>
              <a:rPr lang="en-US" dirty="0" err="1"/>
              <a:t>nome</a:t>
            </a:r>
            <a:r>
              <a:rPr lang="en-US" dirty="0"/>
              <a:t> dos </a:t>
            </a:r>
            <a:r>
              <a:rPr lang="en-US" dirty="0" err="1"/>
              <a:t>arquivos</a:t>
            </a:r>
            <a:r>
              <a:rPr lang="en-US" dirty="0"/>
              <a:t> para </a:t>
            </a:r>
            <a:r>
              <a:rPr lang="en-US" dirty="0" err="1"/>
              <a:t>terminar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_R1.fastq e _R2.fastq</a:t>
            </a:r>
          </a:p>
        </p:txBody>
      </p:sp>
    </p:spTree>
    <p:extLst>
      <p:ext uri="{BB962C8B-B14F-4D97-AF65-F5344CB8AC3E}">
        <p14:creationId xmlns:p14="http://schemas.microsoft.com/office/powerpoint/2010/main" val="2574174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30DCC-B25F-5D2B-9AD9-228E545A2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Preparando</a:t>
            </a:r>
            <a:r>
              <a:rPr lang="en-US" dirty="0"/>
              <a:t> o </a:t>
            </a:r>
            <a:r>
              <a:rPr lang="en-US" dirty="0" err="1"/>
              <a:t>genoma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DBE88-2AA8-99E9-6D95-55C5124C6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Na pasta </a:t>
            </a:r>
            <a:r>
              <a:rPr lang="en-US" dirty="0" err="1"/>
              <a:t>myjuicer</a:t>
            </a:r>
            <a:endParaRPr lang="en-US" dirty="0"/>
          </a:p>
          <a:p>
            <a:r>
              <a:rPr lang="en-US" dirty="0"/>
              <a:t>cd references</a:t>
            </a:r>
          </a:p>
          <a:p>
            <a:r>
              <a:rPr lang="en-US" dirty="0"/>
              <a:t>curl -O </a:t>
            </a:r>
            <a:r>
              <a:rPr lang="en-US" dirty="0">
                <a:hlinkClick r:id="rId2"/>
              </a:rPr>
              <a:t>https://hgdownload.soe.ucsc.edu/goldenPath/mm10/bigZips/mm10.fa.gz</a:t>
            </a:r>
            <a:r>
              <a:rPr lang="en-US" dirty="0"/>
              <a:t> (o </a:t>
            </a:r>
            <a:r>
              <a:rPr lang="en-US" dirty="0" err="1"/>
              <a:t>genoma</a:t>
            </a:r>
            <a:r>
              <a:rPr lang="en-US" dirty="0"/>
              <a:t> de </a:t>
            </a:r>
            <a:r>
              <a:rPr lang="en-US" dirty="0" err="1"/>
              <a:t>mus</a:t>
            </a:r>
            <a:r>
              <a:rPr lang="en-US" dirty="0"/>
              <a:t> musculus, mm10)</a:t>
            </a:r>
          </a:p>
          <a:p>
            <a:r>
              <a:rPr lang="en-US" dirty="0" err="1"/>
              <a:t>gunzip</a:t>
            </a:r>
            <a:r>
              <a:rPr lang="en-US" dirty="0"/>
              <a:t> mm10.fa.gz</a:t>
            </a:r>
          </a:p>
          <a:p>
            <a:r>
              <a:rPr lang="en-US" dirty="0" err="1"/>
              <a:t>samtools</a:t>
            </a:r>
            <a:r>
              <a:rPr lang="en-US" dirty="0"/>
              <a:t> </a:t>
            </a:r>
            <a:r>
              <a:rPr lang="en-US" dirty="0" err="1"/>
              <a:t>faidx</a:t>
            </a:r>
            <a:r>
              <a:rPr lang="en-US" dirty="0"/>
              <a:t> mm10.fa #para </a:t>
            </a:r>
            <a:r>
              <a:rPr lang="en-US" dirty="0" err="1"/>
              <a:t>recuperar</a:t>
            </a:r>
            <a:r>
              <a:rPr lang="en-US" dirty="0"/>
              <a:t> o </a:t>
            </a:r>
            <a:r>
              <a:rPr lang="en-US" dirty="0" err="1"/>
              <a:t>tamanho</a:t>
            </a:r>
            <a:r>
              <a:rPr lang="en-US" dirty="0"/>
              <a:t> dos </a:t>
            </a:r>
            <a:r>
              <a:rPr lang="en-US" dirty="0" err="1"/>
              <a:t>cromossomos</a:t>
            </a:r>
            <a:endParaRPr lang="en-US" dirty="0"/>
          </a:p>
          <a:p>
            <a:r>
              <a:rPr lang="en-US" dirty="0"/>
              <a:t>cut -f1,2 mm10.fa.fai &gt; mm10.chrom.sizes</a:t>
            </a:r>
          </a:p>
          <a:p>
            <a:r>
              <a:rPr lang="en-US" dirty="0"/>
              <a:t>bwa index mm10.fa</a:t>
            </a:r>
          </a:p>
          <a:p>
            <a:r>
              <a:rPr lang="en-US" dirty="0"/>
              <a:t>cd ../</a:t>
            </a:r>
            <a:r>
              <a:rPr lang="en-US" dirty="0" err="1"/>
              <a:t>restrictions_sites</a:t>
            </a:r>
            <a:endParaRPr lang="en-US" dirty="0"/>
          </a:p>
          <a:p>
            <a:r>
              <a:rPr lang="en-US" dirty="0" err="1"/>
              <a:t>chmod</a:t>
            </a:r>
            <a:r>
              <a:rPr lang="en-US" dirty="0"/>
              <a:t> +x ../../juicer/</a:t>
            </a:r>
            <a:r>
              <a:rPr lang="en-US" dirty="0" err="1"/>
              <a:t>misc</a:t>
            </a:r>
            <a:r>
              <a:rPr lang="en-US" dirty="0"/>
              <a:t>/</a:t>
            </a:r>
            <a:r>
              <a:rPr lang="en-US" dirty="0" err="1"/>
              <a:t>generate_site_positions.py</a:t>
            </a:r>
            <a:endParaRPr lang="en-US" dirty="0"/>
          </a:p>
          <a:p>
            <a:r>
              <a:rPr lang="en-US" dirty="0"/>
              <a:t>../../juicer/</a:t>
            </a:r>
            <a:r>
              <a:rPr lang="en-US" dirty="0" err="1"/>
              <a:t>misc</a:t>
            </a:r>
            <a:r>
              <a:rPr lang="en-US" dirty="0"/>
              <a:t>/</a:t>
            </a:r>
            <a:r>
              <a:rPr lang="en-US" dirty="0" err="1"/>
              <a:t>generate_site_positions.py</a:t>
            </a:r>
            <a:r>
              <a:rPr lang="en-US" dirty="0"/>
              <a:t> Arima mm10 ../references/mm10.fa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329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377D9-1634-6204-1A96-D1688F996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B2919-3777-D3E4-06C2-0C3ABCED7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Esquema</a:t>
            </a:r>
            <a:r>
              <a:rPr lang="en-US" dirty="0"/>
              <a:t> de pastas e </a:t>
            </a:r>
            <a:r>
              <a:rPr lang="en-US" dirty="0" err="1"/>
              <a:t>arquivos</a:t>
            </a:r>
            <a:r>
              <a:rPr lang="en-US" dirty="0"/>
              <a:t> para </a:t>
            </a:r>
            <a:r>
              <a:rPr lang="en-US" dirty="0" err="1"/>
              <a:t>rodar</a:t>
            </a:r>
            <a:r>
              <a:rPr lang="en-US" dirty="0"/>
              <a:t> o </a:t>
            </a:r>
            <a:r>
              <a:rPr lang="en-US" dirty="0" err="1"/>
              <a:t>juicer.sh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0CDBA-D079-429E-9966-1126763362E7}"/>
              </a:ext>
            </a:extLst>
          </p:cNvPr>
          <p:cNvSpPr txBox="1"/>
          <p:nvPr/>
        </p:nvSpPr>
        <p:spPr>
          <a:xfrm>
            <a:off x="3804436" y="1676502"/>
            <a:ext cx="208775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Sua pasta do </a:t>
            </a:r>
            <a:r>
              <a:rPr lang="en-US" dirty="0" err="1"/>
              <a:t>curso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3AA3F-D690-E512-6870-943DFEE5B223}"/>
              </a:ext>
            </a:extLst>
          </p:cNvPr>
          <p:cNvSpPr txBox="1"/>
          <p:nvPr/>
        </p:nvSpPr>
        <p:spPr>
          <a:xfrm>
            <a:off x="4168877" y="2443698"/>
            <a:ext cx="10427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myjuicer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CA874B-9A56-DD50-B85E-DA83977C2DCC}"/>
              </a:ext>
            </a:extLst>
          </p:cNvPr>
          <p:cNvSpPr txBox="1"/>
          <p:nvPr/>
        </p:nvSpPr>
        <p:spPr>
          <a:xfrm>
            <a:off x="421713" y="2443698"/>
            <a:ext cx="74251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juicer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97D7B6-0A34-7ACB-3899-6F0D77938A6A}"/>
              </a:ext>
            </a:extLst>
          </p:cNvPr>
          <p:cNvSpPr txBox="1"/>
          <p:nvPr/>
        </p:nvSpPr>
        <p:spPr>
          <a:xfrm>
            <a:off x="8240044" y="2443698"/>
            <a:ext cx="27622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cohesin_dosage_example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6A7DF1-DEBA-C04E-7851-F6CEA5B206A9}"/>
              </a:ext>
            </a:extLst>
          </p:cNvPr>
          <p:cNvSpPr txBox="1"/>
          <p:nvPr/>
        </p:nvSpPr>
        <p:spPr>
          <a:xfrm>
            <a:off x="3253642" y="3072025"/>
            <a:ext cx="12462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B07A5-E5F0-B3F3-3569-07559C2D103E}"/>
              </a:ext>
            </a:extLst>
          </p:cNvPr>
          <p:cNvSpPr txBox="1"/>
          <p:nvPr/>
        </p:nvSpPr>
        <p:spPr>
          <a:xfrm>
            <a:off x="5416817" y="3059668"/>
            <a:ext cx="17836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restriction_sites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045AFE-59EE-1F12-24F8-80C05EBAF9DC}"/>
              </a:ext>
            </a:extLst>
          </p:cNvPr>
          <p:cNvSpPr txBox="1"/>
          <p:nvPr/>
        </p:nvSpPr>
        <p:spPr>
          <a:xfrm>
            <a:off x="1840760" y="3082398"/>
            <a:ext cx="8666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scripts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C96F70-B446-A574-3C10-A2348AA066F8}"/>
              </a:ext>
            </a:extLst>
          </p:cNvPr>
          <p:cNvSpPr txBox="1"/>
          <p:nvPr/>
        </p:nvSpPr>
        <p:spPr>
          <a:xfrm>
            <a:off x="10314779" y="3037482"/>
            <a:ext cx="6874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fastq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3F140D-AECC-CC5C-782F-FB172924FDBA}"/>
              </a:ext>
            </a:extLst>
          </p:cNvPr>
          <p:cNvSpPr txBox="1"/>
          <p:nvPr/>
        </p:nvSpPr>
        <p:spPr>
          <a:xfrm>
            <a:off x="1761347" y="3753844"/>
            <a:ext cx="1159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common/</a:t>
            </a:r>
          </a:p>
          <a:p>
            <a:r>
              <a:rPr lang="en-US" dirty="0" err="1"/>
              <a:t>juicer.sh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ED6795-E6C6-87DC-D91A-312B59D74E25}"/>
              </a:ext>
            </a:extLst>
          </p:cNvPr>
          <p:cNvSpPr txBox="1"/>
          <p:nvPr/>
        </p:nvSpPr>
        <p:spPr>
          <a:xfrm>
            <a:off x="3253642" y="4520981"/>
            <a:ext cx="2091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mm10.fa </a:t>
            </a:r>
          </a:p>
          <a:p>
            <a:r>
              <a:rPr lang="en-US" dirty="0"/>
              <a:t>mm10.chrom.sizes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59435D-3F6A-F664-BF5D-AB604C333FC9}"/>
              </a:ext>
            </a:extLst>
          </p:cNvPr>
          <p:cNvSpPr txBox="1"/>
          <p:nvPr/>
        </p:nvSpPr>
        <p:spPr>
          <a:xfrm>
            <a:off x="5481074" y="3707677"/>
            <a:ext cx="182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mm10_Arima.txt</a:t>
            </a:r>
          </a:p>
        </p:txBody>
      </p:sp>
      <p:sp>
        <p:nvSpPr>
          <p:cNvPr id="3" name="Left Bracket 2">
            <a:extLst>
              <a:ext uri="{FF2B5EF4-FFF2-40B4-BE49-F238E27FC236}">
                <a16:creationId xmlns:a16="http://schemas.microsoft.com/office/drawing/2014/main" id="{0C05E298-25C0-5424-E52A-ACC3F3D95C3F}"/>
              </a:ext>
            </a:extLst>
          </p:cNvPr>
          <p:cNvSpPr/>
          <p:nvPr/>
        </p:nvSpPr>
        <p:spPr>
          <a:xfrm rot="5400000">
            <a:off x="5246117" y="-2202115"/>
            <a:ext cx="140894" cy="8956729"/>
          </a:xfrm>
          <a:prstGeom prst="leftBracke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368CCAB-E135-64BE-9D84-73467EFF2D54}"/>
              </a:ext>
            </a:extLst>
          </p:cNvPr>
          <p:cNvCxnSpPr>
            <a:cxnSpLocks/>
          </p:cNvCxnSpPr>
          <p:nvPr/>
        </p:nvCxnSpPr>
        <p:spPr>
          <a:xfrm>
            <a:off x="4821824" y="2061271"/>
            <a:ext cx="0" cy="1408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1BE3755-1489-C3B9-6F7E-589D4D21A1A5}"/>
              </a:ext>
            </a:extLst>
          </p:cNvPr>
          <p:cNvCxnSpPr>
            <a:cxnSpLocks/>
          </p:cNvCxnSpPr>
          <p:nvPr/>
        </p:nvCxnSpPr>
        <p:spPr>
          <a:xfrm>
            <a:off x="4664259" y="2198173"/>
            <a:ext cx="0" cy="1408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eft Bracket 18">
            <a:extLst>
              <a:ext uri="{FF2B5EF4-FFF2-40B4-BE49-F238E27FC236}">
                <a16:creationId xmlns:a16="http://schemas.microsoft.com/office/drawing/2014/main" id="{C84A228E-5AAB-E25F-498D-A81EDB4D2D0C}"/>
              </a:ext>
            </a:extLst>
          </p:cNvPr>
          <p:cNvSpPr/>
          <p:nvPr/>
        </p:nvSpPr>
        <p:spPr>
          <a:xfrm rot="5400000">
            <a:off x="4271898" y="919160"/>
            <a:ext cx="131100" cy="4126704"/>
          </a:xfrm>
          <a:prstGeom prst="leftBracke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494C5EC-A7C5-6833-178F-637EFC65F302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690238" y="2813030"/>
            <a:ext cx="0" cy="1157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454FD92-71C8-90F0-D7B9-60A0FCBCBB57}"/>
              </a:ext>
            </a:extLst>
          </p:cNvPr>
          <p:cNvCxnSpPr>
            <a:cxnSpLocks/>
          </p:cNvCxnSpPr>
          <p:nvPr/>
        </p:nvCxnSpPr>
        <p:spPr>
          <a:xfrm>
            <a:off x="3875760" y="2907164"/>
            <a:ext cx="0" cy="1408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320E082-3A8E-20B0-11FE-73E24B1EC19B}"/>
              </a:ext>
            </a:extLst>
          </p:cNvPr>
          <p:cNvCxnSpPr>
            <a:cxnSpLocks/>
          </p:cNvCxnSpPr>
          <p:nvPr/>
        </p:nvCxnSpPr>
        <p:spPr>
          <a:xfrm>
            <a:off x="10648951" y="2860695"/>
            <a:ext cx="0" cy="1157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C95B88-00B7-B546-EC84-E2D32A46BD92}"/>
              </a:ext>
            </a:extLst>
          </p:cNvPr>
          <p:cNvCxnSpPr>
            <a:cxnSpLocks/>
          </p:cNvCxnSpPr>
          <p:nvPr/>
        </p:nvCxnSpPr>
        <p:spPr>
          <a:xfrm>
            <a:off x="2266272" y="3451730"/>
            <a:ext cx="0" cy="4406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0CDFA-5EE9-BBE7-81BC-7E184F43B404}"/>
              </a:ext>
            </a:extLst>
          </p:cNvPr>
          <p:cNvCxnSpPr>
            <a:cxnSpLocks/>
          </p:cNvCxnSpPr>
          <p:nvPr/>
        </p:nvCxnSpPr>
        <p:spPr>
          <a:xfrm flipH="1">
            <a:off x="3875760" y="3492442"/>
            <a:ext cx="1293" cy="10285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BC356FD-595F-7AB8-D21F-11A213616EE7}"/>
              </a:ext>
            </a:extLst>
          </p:cNvPr>
          <p:cNvCxnSpPr>
            <a:cxnSpLocks/>
          </p:cNvCxnSpPr>
          <p:nvPr/>
        </p:nvCxnSpPr>
        <p:spPr>
          <a:xfrm>
            <a:off x="6395474" y="3492442"/>
            <a:ext cx="5326" cy="2685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2A40A50-1E9B-5FBA-2C87-A6C93A77E77B}"/>
              </a:ext>
            </a:extLst>
          </p:cNvPr>
          <p:cNvSpPr txBox="1"/>
          <p:nvPr/>
        </p:nvSpPr>
        <p:spPr>
          <a:xfrm>
            <a:off x="10090753" y="3763243"/>
            <a:ext cx="11163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_R1.fastq</a:t>
            </a:r>
          </a:p>
          <a:p>
            <a:r>
              <a:rPr lang="en-US" dirty="0"/>
              <a:t>_R2.fastq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BE5EC4-4F61-F5B3-B3BF-858C568FF3B6}"/>
              </a:ext>
            </a:extLst>
          </p:cNvPr>
          <p:cNvCxnSpPr>
            <a:cxnSpLocks/>
          </p:cNvCxnSpPr>
          <p:nvPr/>
        </p:nvCxnSpPr>
        <p:spPr>
          <a:xfrm>
            <a:off x="10660656" y="3480216"/>
            <a:ext cx="5326" cy="2685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784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925E6-2A43-2C2E-B756-A0B56F50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Rodar o juicer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250FE-5CB9-6E1E-3B85-BCD1144B7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 pasta </a:t>
            </a:r>
            <a:r>
              <a:rPr lang="en-US" dirty="0" err="1"/>
              <a:t>cohesion_dosage_example</a:t>
            </a:r>
            <a:endParaRPr lang="en-US" dirty="0"/>
          </a:p>
          <a:p>
            <a:r>
              <a:rPr lang="en-US" dirty="0"/>
              <a:t>../</a:t>
            </a:r>
            <a:r>
              <a:rPr lang="en-US" dirty="0" err="1"/>
              <a:t>myjuicer</a:t>
            </a:r>
            <a:r>
              <a:rPr lang="en-US" dirty="0"/>
              <a:t>/scripts/</a:t>
            </a:r>
            <a:r>
              <a:rPr lang="en-US" dirty="0" err="1"/>
              <a:t>juicer.sh</a:t>
            </a:r>
            <a:r>
              <a:rPr lang="en-US" dirty="0"/>
              <a:t> -t 8 -D ../</a:t>
            </a:r>
            <a:r>
              <a:rPr lang="en-US" dirty="0" err="1"/>
              <a:t>myjuicer</a:t>
            </a:r>
            <a:r>
              <a:rPr lang="en-US" dirty="0"/>
              <a:t>/ -z ../</a:t>
            </a:r>
            <a:r>
              <a:rPr lang="en-US" dirty="0" err="1"/>
              <a:t>myjuicer</a:t>
            </a:r>
            <a:r>
              <a:rPr lang="en-US" dirty="0"/>
              <a:t>/references/mm10.fa -p ../</a:t>
            </a:r>
            <a:r>
              <a:rPr lang="en-US" dirty="0" err="1"/>
              <a:t>myjuicer</a:t>
            </a:r>
            <a:r>
              <a:rPr lang="en-US" dirty="0"/>
              <a:t>/references/mm10.chrom.sizes -y ../</a:t>
            </a:r>
            <a:r>
              <a:rPr lang="en-US" dirty="0" err="1"/>
              <a:t>myjuicer</a:t>
            </a:r>
            <a:r>
              <a:rPr lang="en-US" dirty="0"/>
              <a:t>/</a:t>
            </a:r>
            <a:r>
              <a:rPr lang="en-US" dirty="0" err="1"/>
              <a:t>restrictions_sites</a:t>
            </a:r>
            <a:r>
              <a:rPr lang="en-US" dirty="0"/>
              <a:t>/mm10_Arima.txt -s Arima &amp;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655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77BDB-7692-888F-3E17-13CF2FFDC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Estatísticas</a:t>
            </a:r>
            <a:r>
              <a:rPr lang="en-US" dirty="0"/>
              <a:t> dos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C9C21-EF1F-03DB-8B54-D6DAAB5C9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Copiar</a:t>
            </a:r>
            <a:r>
              <a:rPr lang="en-US" dirty="0"/>
              <a:t> </a:t>
            </a:r>
            <a:r>
              <a:rPr lang="en-US" dirty="0" err="1"/>
              <a:t>hic_bam_summary.sh</a:t>
            </a:r>
            <a:r>
              <a:rPr lang="en-US" dirty="0"/>
              <a:t> do </a:t>
            </a:r>
            <a:r>
              <a:rPr lang="en-US" dirty="0" err="1"/>
              <a:t>github</a:t>
            </a:r>
            <a:r>
              <a:rPr lang="en-US" dirty="0"/>
              <a:t> do </a:t>
            </a:r>
            <a:r>
              <a:rPr lang="en-US" dirty="0" err="1"/>
              <a:t>curso</a:t>
            </a:r>
            <a:r>
              <a:rPr lang="en-US" dirty="0"/>
              <a:t> para </a:t>
            </a:r>
            <a:r>
              <a:rPr lang="en-US" dirty="0" err="1"/>
              <a:t>sua</a:t>
            </a:r>
            <a:r>
              <a:rPr lang="en-US" dirty="0"/>
              <a:t> pasta do </a:t>
            </a:r>
            <a:r>
              <a:rPr lang="en-US" dirty="0" err="1"/>
              <a:t>curso</a:t>
            </a:r>
            <a:endParaRPr lang="en-US" dirty="0"/>
          </a:p>
          <a:p>
            <a:r>
              <a:rPr lang="en-US" dirty="0"/>
              <a:t>Na pasta </a:t>
            </a:r>
            <a:r>
              <a:rPr lang="en-US" dirty="0" err="1"/>
              <a:t>cohesin_dosage_example</a:t>
            </a:r>
            <a:endParaRPr lang="en-US" dirty="0"/>
          </a:p>
          <a:p>
            <a:r>
              <a:rPr lang="en-US" dirty="0"/>
              <a:t>bash ../</a:t>
            </a:r>
            <a:r>
              <a:rPr lang="en-US" dirty="0" err="1"/>
              <a:t>hic_bam_summary.sh</a:t>
            </a:r>
            <a:r>
              <a:rPr lang="en-US" dirty="0"/>
              <a:t> aligned/</a:t>
            </a:r>
            <a:r>
              <a:rPr lang="en-US" dirty="0" err="1"/>
              <a:t>merged_dedup.bam</a:t>
            </a:r>
            <a:r>
              <a:rPr lang="en-US" dirty="0"/>
              <a:t> </a:t>
            </a:r>
            <a:r>
              <a:rPr lang="en-US" dirty="0" err="1"/>
              <a:t>cohesin_dosage_example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194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A9BEEB-A7C7-439B-A7BB-9A566E0E1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318845"/>
              </p:ext>
            </p:extLst>
          </p:nvPr>
        </p:nvGraphicFramePr>
        <p:xfrm>
          <a:off x="384563" y="113174"/>
          <a:ext cx="11422874" cy="66316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07030">
                  <a:extLst>
                    <a:ext uri="{9D8B030D-6E8A-4147-A177-3AD203B41FA5}">
                      <a16:colId xmlns:a16="http://schemas.microsoft.com/office/drawing/2014/main" val="89691893"/>
                    </a:ext>
                  </a:extLst>
                </a:gridCol>
                <a:gridCol w="8415844">
                  <a:extLst>
                    <a:ext uri="{9D8B030D-6E8A-4147-A177-3AD203B41FA5}">
                      <a16:colId xmlns:a16="http://schemas.microsoft.com/office/drawing/2014/main" val="611693837"/>
                    </a:ext>
                  </a:extLst>
                </a:gridCol>
              </a:tblGrid>
              <a:tr h="221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lt"/>
                        </a:rPr>
                        <a:t>Column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lt"/>
                        </a:rPr>
                        <a:t>Meaning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770903"/>
                  </a:ext>
                </a:extLst>
              </a:tr>
              <a:tr h="221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lt"/>
                        </a:rPr>
                        <a:t>sample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lt"/>
                        </a:rPr>
                        <a:t>Sample name supplied when running the script.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834278"/>
                  </a:ext>
                </a:extLst>
              </a:tr>
              <a:tr h="553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lt"/>
                        </a:rPr>
                        <a:t>bam_pairs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lt"/>
                        </a:rPr>
                        <a:t>Number of complete primary read pairs represented in merged_dedup.bam. This is not the original number of raw FASTQ pairs.</a:t>
                      </a:r>
                    </a:p>
                  </a:txBody>
                  <a:tcPr marL="45720" marR="4572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973678"/>
                  </a:ext>
                </a:extLst>
              </a:tr>
              <a:tr h="387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lt"/>
                        </a:rPr>
                        <a:t>duplicate_pairs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lt"/>
                        </a:rPr>
                        <a:t>Number of read pairs for which at least one mate has the BAM duplicate flag (0x400).</a:t>
                      </a:r>
                    </a:p>
                  </a:txBody>
                  <a:tcPr marL="45720" marR="4572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312054"/>
                  </a:ext>
                </a:extLst>
              </a:tr>
              <a:tr h="387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lt"/>
                        </a:rPr>
                        <a:t>duplicate_fraction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lt"/>
                        </a:rPr>
                        <a:t>duplicate_pairs / bam_pairs. Fraction of pairs in the BAM marked as duplicates.</a:t>
                      </a:r>
                    </a:p>
                  </a:txBody>
                  <a:tcPr marL="45720" marR="4572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272042"/>
                  </a:ext>
                </a:extLst>
              </a:tr>
              <a:tr h="553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lt"/>
                        </a:rPr>
                        <a:t>both_mapped_pairs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lt"/>
                        </a:rPr>
                        <a:t>Number of pairs for which both mates mapped to the reference. Includes duplicates and pairs with low MAPQ.</a:t>
                      </a:r>
                    </a:p>
                  </a:txBody>
                  <a:tcPr marL="45720" marR="4572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445521"/>
                  </a:ext>
                </a:extLst>
              </a:tr>
              <a:tr h="387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lt"/>
                        </a:rPr>
                        <a:t>singleton_pairs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lt"/>
                        </a:rPr>
                        <a:t>Number of pairs for which exactly one mate mapped.</a:t>
                      </a:r>
                    </a:p>
                  </a:txBody>
                  <a:tcPr marL="45720" marR="4572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072321"/>
                  </a:ext>
                </a:extLst>
              </a:tr>
              <a:tr h="387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latin typeface="+mn-lt"/>
                        </a:rPr>
                        <a:t>singleton_fraction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latin typeface="+mn-lt"/>
                        </a:rPr>
                        <a:t>singleton_pairs</a:t>
                      </a:r>
                      <a:r>
                        <a:rPr lang="en-US" sz="1400" dirty="0">
                          <a:latin typeface="+mn-lt"/>
                        </a:rPr>
                        <a:t> / </a:t>
                      </a:r>
                      <a:r>
                        <a:rPr lang="en-US" sz="1400" dirty="0" err="1">
                          <a:latin typeface="+mn-lt"/>
                        </a:rPr>
                        <a:t>bam_pairs</a:t>
                      </a:r>
                      <a:r>
                        <a:rPr lang="en-US" sz="1400" dirty="0">
                          <a:latin typeface="+mn-lt"/>
                        </a:rPr>
                        <a:t>. Fraction of pairs with only one mapped mate.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442901"/>
                  </a:ext>
                </a:extLst>
              </a:tr>
              <a:tr h="3877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non_dup_q10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Number of pairs passing those filters.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29504"/>
                  </a:ext>
                </a:extLst>
              </a:tr>
              <a:tr h="3877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p_non_dup_q10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non_dup_q10 / </a:t>
                      </a:r>
                      <a:r>
                        <a:rPr lang="en-US" sz="1400" b="0" i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bam_pairs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 Fraction of BAM pairs retained after these filters.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874534"/>
                  </a:ext>
                </a:extLst>
              </a:tr>
              <a:tr h="3877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pairs_ge_1kb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Number of filtered pairs that are either </a:t>
                      </a:r>
                      <a:r>
                        <a:rPr lang="en-US" sz="1400" b="0" i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interchromosomal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or map at least 1 kb apart on the same chromosome.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558567"/>
                  </a:ext>
                </a:extLst>
              </a:tr>
              <a:tr h="3877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p_ge_1kb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pairs_ge_1kb / non_dup_q10. Fraction of filtered pairs meeting the ≥1-kb definition.</a:t>
                      </a:r>
                    </a:p>
                  </a:txBody>
                  <a:tcPr marL="45720" marR="4572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924179"/>
                  </a:ext>
                </a:extLst>
              </a:tr>
              <a:tr h="3877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pairs_ge_1mb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Number of filtered pairs mapping to the same chromosome at least 1 Mb apart.</a:t>
                      </a:r>
                    </a:p>
                  </a:txBody>
                  <a:tcPr marL="45720" marR="4572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097618"/>
                  </a:ext>
                </a:extLst>
              </a:tr>
              <a:tr h="3877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p_ge_1mb_among_ge_1kb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pairs_ge_1mb / pairs_ge_1kb. Fraction of the ≥1-kb group that is intrachromosomal and separated by at least 1 Mb.</a:t>
                      </a:r>
                    </a:p>
                  </a:txBody>
                  <a:tcPr marL="45720" marR="4572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551835"/>
                  </a:ext>
                </a:extLst>
              </a:tr>
              <a:tr h="3877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interchromosomal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Number of filtered pairs whose mates map to different chromosomes.</a:t>
                      </a:r>
                    </a:p>
                  </a:txBody>
                  <a:tcPr marL="45720" marR="4572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977067"/>
                  </a:ext>
                </a:extLst>
              </a:tr>
              <a:tr h="3877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p_interchromosomal_among_ge_1kb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interchromosomal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/ pairs_ge_1kb. Fraction of the ≥1-kb group that is </a:t>
                      </a:r>
                      <a:r>
                        <a:rPr lang="en-US" sz="1400" b="0" i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interchromosomal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54222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F142C78-64FE-18A4-932D-AAE609FCB123}"/>
              </a:ext>
            </a:extLst>
          </p:cNvPr>
          <p:cNvSpPr txBox="1"/>
          <p:nvPr/>
        </p:nvSpPr>
        <p:spPr>
          <a:xfrm>
            <a:off x="10582117" y="113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*Feito com IA</a:t>
            </a:r>
          </a:p>
        </p:txBody>
      </p:sp>
    </p:spTree>
    <p:extLst>
      <p:ext uri="{BB962C8B-B14F-4D97-AF65-F5344CB8AC3E}">
        <p14:creationId xmlns:p14="http://schemas.microsoft.com/office/powerpoint/2010/main" val="2001449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BE95-6877-5EBE-FF2B-F17415B57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 </a:t>
            </a:r>
            <a:r>
              <a:rPr lang="en-US" dirty="0" err="1"/>
              <a:t>visualizar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56B16-C25A-8DD6-507E-FB0F5AB00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Instalar</a:t>
            </a:r>
            <a:r>
              <a:rPr lang="en-US" dirty="0"/>
              <a:t> o Juicebox</a:t>
            </a:r>
          </a:p>
          <a:p>
            <a:r>
              <a:rPr lang="en-US" dirty="0" err="1"/>
              <a:t>Abrir</a:t>
            </a:r>
            <a:r>
              <a:rPr lang="en-US" dirty="0"/>
              <a:t> </a:t>
            </a:r>
            <a:r>
              <a:rPr lang="en-US" dirty="0" err="1"/>
              <a:t>cohesion_dosage_example</a:t>
            </a:r>
            <a:r>
              <a:rPr lang="en-US" dirty="0"/>
              <a:t>/aligned/</a:t>
            </a:r>
            <a:r>
              <a:rPr lang="en-US" dirty="0" err="1"/>
              <a:t>inter.hic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308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9499-BA5C-4DA6-029C-0B054E129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./</a:t>
            </a:r>
            <a:r>
              <a:rPr lang="en-US" dirty="0" err="1"/>
              <a:t>juicer.sh</a:t>
            </a:r>
            <a:r>
              <a:rPr lang="en-US" dirty="0"/>
              <a:t> -h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04FCFF-F661-0549-F809-7CE40B625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278703"/>
              </p:ext>
            </p:extLst>
          </p:nvPr>
        </p:nvGraphicFramePr>
        <p:xfrm>
          <a:off x="2759974" y="2307764"/>
          <a:ext cx="6672051" cy="4351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4017">
                  <a:extLst>
                    <a:ext uri="{9D8B030D-6E8A-4147-A177-3AD203B41FA5}">
                      <a16:colId xmlns:a16="http://schemas.microsoft.com/office/drawing/2014/main" val="4109325398"/>
                    </a:ext>
                  </a:extLst>
                </a:gridCol>
                <a:gridCol w="2224017">
                  <a:extLst>
                    <a:ext uri="{9D8B030D-6E8A-4147-A177-3AD203B41FA5}">
                      <a16:colId xmlns:a16="http://schemas.microsoft.com/office/drawing/2014/main" val="2284226388"/>
                    </a:ext>
                  </a:extLst>
                </a:gridCol>
                <a:gridCol w="2224017">
                  <a:extLst>
                    <a:ext uri="{9D8B030D-6E8A-4147-A177-3AD203B41FA5}">
                      <a16:colId xmlns:a16="http://schemas.microsoft.com/office/drawing/2014/main" val="2354358326"/>
                    </a:ext>
                  </a:extLst>
                </a:gridCol>
              </a:tblGrid>
              <a:tr h="232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Option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Meaning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Example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689931444"/>
                  </a:ext>
                </a:extLst>
              </a:tr>
              <a:tr h="406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-g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Genome ID supported by the script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-g hg38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4040062234"/>
                  </a:ext>
                </a:extLst>
              </a:tr>
              <a:tr h="75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-d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Top-level experiment directory containing fastq/; Juicer creates splits/ and aligned/here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-d /path/to/sample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744258248"/>
                  </a:ext>
                </a:extLst>
              </a:tr>
              <a:tr h="232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-z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Reference genome FASTA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-z references/TAIR10.fa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478139146"/>
                  </a:ext>
                </a:extLst>
              </a:tr>
              <a:tr h="580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-p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Chromosome sizes file, defining which chromosomes go into the .hic file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-p references/TAIR10.chrom.sizes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06144943"/>
                  </a:ext>
                </a:extLst>
              </a:tr>
              <a:tr h="580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-y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Restriction-site positions file for the reference assembly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-y restriction_sites/TAIR10_HindIII.txt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059728306"/>
                  </a:ext>
                </a:extLst>
              </a:tr>
              <a:tr h="232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-s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Restriction enzyme/site setting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-s HindIII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4261824062"/>
                  </a:ext>
                </a:extLst>
              </a:tr>
              <a:tr h="580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-b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Ligation-junction sequence, used when counting ligation junctions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-b GATCGATC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545721298"/>
                  </a:ext>
                </a:extLst>
              </a:tr>
              <a:tr h="75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-D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Parent directory of the Juicer installation, containing scripts/, references/ and restriction_sites/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-D /path/to/</a:t>
                      </a:r>
                      <a:r>
                        <a:rPr lang="en-US" sz="1100" dirty="0" err="1"/>
                        <a:t>myjuicer</a:t>
                      </a:r>
                      <a:endParaRPr lang="en-US" sz="1100" dirty="0"/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91669002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4AB7DAF-1567-2B6F-159D-4EF5F68D285D}"/>
              </a:ext>
            </a:extLst>
          </p:cNvPr>
          <p:cNvSpPr txBox="1"/>
          <p:nvPr/>
        </p:nvSpPr>
        <p:spPr>
          <a:xfrm>
            <a:off x="1753985" y="1690688"/>
            <a:ext cx="6101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b="1" i="0" dirty="0">
                <a:solidFill>
                  <a:schemeClr val="tx1"/>
                </a:solidFill>
                <a:effectLst/>
              </a:rPr>
              <a:t>1. Reference genome and input parameters</a:t>
            </a:r>
            <a:endParaRPr lang="en-US" b="1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A37990-FBE3-42D4-B4EA-CB00EB78B16F}"/>
              </a:ext>
            </a:extLst>
          </p:cNvPr>
          <p:cNvSpPr txBox="1"/>
          <p:nvPr/>
        </p:nvSpPr>
        <p:spPr>
          <a:xfrm>
            <a:off x="8273814" y="1999226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*Feito com IA</a:t>
            </a:r>
          </a:p>
        </p:txBody>
      </p:sp>
    </p:spTree>
    <p:extLst>
      <p:ext uri="{BB962C8B-B14F-4D97-AF65-F5344CB8AC3E}">
        <p14:creationId xmlns:p14="http://schemas.microsoft.com/office/powerpoint/2010/main" val="16219046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4AB8E-17B4-4BC8-12D1-3F5D61185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CAF6B-5F97-7FED-D969-9CF2374F7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./</a:t>
            </a:r>
            <a:r>
              <a:rPr lang="en-US" dirty="0" err="1"/>
              <a:t>juicer.sh</a:t>
            </a:r>
            <a:r>
              <a:rPr lang="en-US" dirty="0"/>
              <a:t> -h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A50910-220F-9F27-F005-32457F8825D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81054"/>
          <a:ext cx="1051560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7197689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962103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837696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 to change 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984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Number of threads for BWA alignment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Increase when CPU resources are 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640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Number of threads for .hic file creation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Increase if the file-creation stage is slow and resources allow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12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Experiment description stored in the output metadata/statistics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Useful for recording treatment, tissue or experimental condition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413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Sample name in the BAM read-group metadata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Set to the biological sample 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8488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Library name in the read-group metadata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Set to the library identifier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08455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3C269C-AD45-0489-59A6-6F9F3E2AFFEA}"/>
              </a:ext>
            </a:extLst>
          </p:cNvPr>
          <p:cNvSpPr txBox="1"/>
          <p:nvPr/>
        </p:nvSpPr>
        <p:spPr>
          <a:xfrm>
            <a:off x="838200" y="1516539"/>
            <a:ext cx="6101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b="1" i="0">
                <a:solidFill>
                  <a:schemeClr val="tx1"/>
                </a:solidFill>
                <a:effectLst/>
              </a:rPr>
              <a:t>2. </a:t>
            </a:r>
            <a:r>
              <a:rPr lang="en-US" b="1" i="0" dirty="0">
                <a:solidFill>
                  <a:schemeClr val="tx1"/>
                </a:solidFill>
                <a:effectLst/>
              </a:rPr>
              <a:t>Threads and metadata</a:t>
            </a:r>
            <a:endParaRPr lang="en-US" b="1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3CCE39-22FA-B976-53A8-2FA0D56AC4D9}"/>
              </a:ext>
            </a:extLst>
          </p:cNvPr>
          <p:cNvSpPr txBox="1"/>
          <p:nvPr/>
        </p:nvSpPr>
        <p:spPr>
          <a:xfrm>
            <a:off x="9968800" y="1690688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*Feito com IA</a:t>
            </a:r>
          </a:p>
        </p:txBody>
      </p:sp>
    </p:spTree>
    <p:extLst>
      <p:ext uri="{BB962C8B-B14F-4D97-AF65-F5344CB8AC3E}">
        <p14:creationId xmlns:p14="http://schemas.microsoft.com/office/powerpoint/2010/main" val="1932453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BC0FB-455C-F4A7-9EB0-D155F0E12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CA205-6065-EC06-0C2A-9AE0A358F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./</a:t>
            </a:r>
            <a:r>
              <a:rPr lang="en-US" dirty="0" err="1"/>
              <a:t>juicer.sh</a:t>
            </a:r>
            <a:r>
              <a:rPr lang="en-US" dirty="0"/>
              <a:t> -h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F7C95A-639A-B06C-8CAF-09FA149F6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546902"/>
              </p:ext>
            </p:extLst>
          </p:nvPr>
        </p:nvGraphicFramePr>
        <p:xfrm>
          <a:off x="1546873" y="2205930"/>
          <a:ext cx="9098253" cy="44552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32751">
                  <a:extLst>
                    <a:ext uri="{9D8B030D-6E8A-4147-A177-3AD203B41FA5}">
                      <a16:colId xmlns:a16="http://schemas.microsoft.com/office/drawing/2014/main" val="2350784167"/>
                    </a:ext>
                  </a:extLst>
                </a:gridCol>
                <a:gridCol w="3032751">
                  <a:extLst>
                    <a:ext uri="{9D8B030D-6E8A-4147-A177-3AD203B41FA5}">
                      <a16:colId xmlns:a16="http://schemas.microsoft.com/office/drawing/2014/main" val="1976320153"/>
                    </a:ext>
                  </a:extLst>
                </a:gridCol>
                <a:gridCol w="3032751">
                  <a:extLst>
                    <a:ext uri="{9D8B030D-6E8A-4147-A177-3AD203B41FA5}">
                      <a16:colId xmlns:a16="http://schemas.microsoft.com/office/drawing/2014/main" val="434619290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Option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Meaning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Practical advice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4064254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-w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Wobble distance used in duplicate detection; the CPU script's default is 4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Keep the default unless you have a reason to change it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454787128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-j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Use exact duplicate matching instead of wobble-based matching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Changes duplicate-detection behavior; do not change casually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642770716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-f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Include fragment-delimited maps in .hic creation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Use if you need restriction-fragment-resolution maps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840178987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-u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Treat the data as single-end rather than paired-end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Ordinary paired-end Hi-C generally does not use this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340515370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-m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Methylation-library mode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Only for the relevant specialized workflow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337737322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-e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Exit early before final .hic creation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Useful in specialized workflows, but not for producing the normal final output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2967615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2B1EF7A-DA8C-F381-F44C-5974153D355E}"/>
              </a:ext>
            </a:extLst>
          </p:cNvPr>
          <p:cNvSpPr txBox="1"/>
          <p:nvPr/>
        </p:nvSpPr>
        <p:spPr>
          <a:xfrm>
            <a:off x="1088968" y="1506022"/>
            <a:ext cx="6101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b="1" i="0" dirty="0">
                <a:solidFill>
                  <a:schemeClr val="tx1"/>
                </a:solidFill>
                <a:effectLst/>
              </a:rPr>
              <a:t>3. Duplicate handling and output options</a:t>
            </a:r>
            <a:endParaRPr lang="en-US" b="1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34958-E175-CE8B-DEEB-10CA5D99498A}"/>
              </a:ext>
            </a:extLst>
          </p:cNvPr>
          <p:cNvSpPr txBox="1"/>
          <p:nvPr/>
        </p:nvSpPr>
        <p:spPr>
          <a:xfrm>
            <a:off x="10671327" y="1729086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*Feito com IA</a:t>
            </a:r>
          </a:p>
        </p:txBody>
      </p:sp>
    </p:spTree>
    <p:extLst>
      <p:ext uri="{BB962C8B-B14F-4D97-AF65-F5344CB8AC3E}">
        <p14:creationId xmlns:p14="http://schemas.microsoft.com/office/powerpoint/2010/main" val="4114301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8B0FF-4EA1-1268-6095-33C01C703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3AF81-5332-E37B-D0DD-CA8EF5EF0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./</a:t>
            </a:r>
            <a:r>
              <a:rPr lang="en-US" dirty="0" err="1"/>
              <a:t>juicer.sh</a:t>
            </a:r>
            <a:r>
              <a:rPr lang="en-US" dirty="0"/>
              <a:t> -h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8A95B9-8A15-76EC-1CAB-14ECB6D55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491138"/>
              </p:ext>
            </p:extLst>
          </p:nvPr>
        </p:nvGraphicFramePr>
        <p:xfrm>
          <a:off x="838200" y="2554880"/>
          <a:ext cx="10515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7961910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76251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-S 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Intended restart 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246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chimeric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Alignment has completed; resume chimeric-read handling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973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Chimeric handling has completed; resume merging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0852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dedup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Merged alignments exist; resume duplicate handling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7612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Deduplication is complete; create final statistics and .hic 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0698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postproc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.hic files exist; resume feature-annotation post-processing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869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early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Stop before normal final .hic creation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602802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3C42D4C-7EEB-4939-12CB-6E3DACA3AFF9}"/>
              </a:ext>
            </a:extLst>
          </p:cNvPr>
          <p:cNvSpPr txBox="1"/>
          <p:nvPr/>
        </p:nvSpPr>
        <p:spPr>
          <a:xfrm>
            <a:off x="838200" y="1938118"/>
            <a:ext cx="6101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b="1" i="0" dirty="0">
                <a:solidFill>
                  <a:schemeClr val="tx1"/>
                </a:solidFill>
                <a:effectLst/>
              </a:rPr>
              <a:t>4. Restarting a failed run with </a:t>
            </a:r>
            <a:r>
              <a:rPr lang="en-US" b="1" i="0" dirty="0">
                <a:solidFill>
                  <a:schemeClr val="tx1"/>
                </a:solidFill>
                <a:effectLst/>
                <a:latin typeface="+mn-lt"/>
              </a:rPr>
              <a:t>-S</a:t>
            </a:r>
            <a:endParaRPr lang="en-US" b="1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6477AB-CD90-61F1-1AD6-F1DBD35E108B}"/>
              </a:ext>
            </a:extLst>
          </p:cNvPr>
          <p:cNvSpPr txBox="1"/>
          <p:nvPr/>
        </p:nvSpPr>
        <p:spPr>
          <a:xfrm>
            <a:off x="10671327" y="1729086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*Feito com IA</a:t>
            </a:r>
          </a:p>
        </p:txBody>
      </p:sp>
    </p:spTree>
    <p:extLst>
      <p:ext uri="{BB962C8B-B14F-4D97-AF65-F5344CB8AC3E}">
        <p14:creationId xmlns:p14="http://schemas.microsoft.com/office/powerpoint/2010/main" val="1194468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B1C92-5B23-683F-5C8C-FCB146861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566F-E580-B2B2-D59F-46E6CF1D9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./</a:t>
            </a:r>
            <a:r>
              <a:rPr lang="en-US" dirty="0" err="1"/>
              <a:t>juicer.sh</a:t>
            </a:r>
            <a:r>
              <a:rPr lang="en-US" dirty="0"/>
              <a:t> -h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6ADE98-D463-E8DB-E528-08E4B74531D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35334"/>
          <a:ext cx="10515600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1235938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448671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2320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--assembly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Early-exit workflow that creates the older merged_nodups output for downstream assembly workflows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7933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--cleanup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Automatically clean up intermediate files after successful completion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5673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--qc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QC-oriented run mode with a reduced resolution range, according to the script help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888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--qc_apa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 QC Aggregate Peak 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1317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--in-situ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Specialized mode for in-situ Hi-C 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4145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-h or --help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Display help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03689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DE7C759-6DB7-9C52-6F5C-25E73AAA86B6}"/>
              </a:ext>
            </a:extLst>
          </p:cNvPr>
          <p:cNvSpPr txBox="1"/>
          <p:nvPr/>
        </p:nvSpPr>
        <p:spPr>
          <a:xfrm>
            <a:off x="838200" y="1506022"/>
            <a:ext cx="6101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b="1" i="0">
                <a:solidFill>
                  <a:schemeClr val="tx1"/>
                </a:solidFill>
                <a:effectLst/>
              </a:rPr>
              <a:t>5. </a:t>
            </a:r>
            <a:r>
              <a:rPr lang="en-US" b="1" i="0" dirty="0">
                <a:solidFill>
                  <a:schemeClr val="tx1"/>
                </a:solidFill>
                <a:effectLst/>
              </a:rPr>
              <a:t>Other options</a:t>
            </a:r>
            <a:endParaRPr lang="en-US" b="1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374D1-13BA-6C98-3A84-1F61A675261A}"/>
              </a:ext>
            </a:extLst>
          </p:cNvPr>
          <p:cNvSpPr txBox="1"/>
          <p:nvPr/>
        </p:nvSpPr>
        <p:spPr>
          <a:xfrm>
            <a:off x="10671327" y="1729086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*Feito com IA</a:t>
            </a:r>
          </a:p>
        </p:txBody>
      </p:sp>
    </p:spTree>
    <p:extLst>
      <p:ext uri="{BB962C8B-B14F-4D97-AF65-F5344CB8AC3E}">
        <p14:creationId xmlns:p14="http://schemas.microsoft.com/office/powerpoint/2010/main" val="112071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22DA-6E44-9C47-E1B1-C409D1297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Nosso</a:t>
            </a:r>
            <a:r>
              <a:rPr lang="en-US" dirty="0"/>
              <a:t> </a:t>
            </a:r>
            <a:r>
              <a:rPr lang="en-US" dirty="0" err="1"/>
              <a:t>exemplo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F23530-CC8D-BFC0-CD11-95FF2A2F8066}"/>
              </a:ext>
            </a:extLst>
          </p:cNvPr>
          <p:cNvSpPr txBox="1"/>
          <p:nvPr/>
        </p:nvSpPr>
        <p:spPr>
          <a:xfrm>
            <a:off x="961838" y="6226629"/>
            <a:ext cx="8638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academic.oup.com</a:t>
            </a:r>
            <a:r>
              <a:rPr lang="en-US" dirty="0"/>
              <a:t>/</a:t>
            </a:r>
            <a:r>
              <a:rPr lang="en-US" dirty="0" err="1"/>
              <a:t>plcell</a:t>
            </a:r>
            <a:r>
              <a:rPr lang="en-US" dirty="0"/>
              <a:t>/article/34/7/2638/6571821?login=false#365062977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39764B-5DE1-6D13-19B0-2D1B6A43E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6672"/>
            <a:ext cx="9749622" cy="436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2703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C53EB-C67A-D21B-78A9-953C5F2CF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Organizando</a:t>
            </a:r>
            <a:r>
              <a:rPr lang="en-US" dirty="0"/>
              <a:t> dados de entrada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3FBF2-E893-47A2-2E69-8BBB503A4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Na pasta </a:t>
            </a:r>
            <a:r>
              <a:rPr lang="en-US" dirty="0" err="1"/>
              <a:t>myjuicer</a:t>
            </a:r>
            <a:endParaRPr lang="en-US" dirty="0"/>
          </a:p>
          <a:p>
            <a:r>
              <a:rPr lang="en-US" dirty="0" err="1"/>
              <a:t>Baixar</a:t>
            </a:r>
            <a:r>
              <a:rPr lang="en-US" dirty="0"/>
              <a:t> o toolkit do </a:t>
            </a:r>
            <a:r>
              <a:rPr lang="en-US" dirty="0" err="1"/>
              <a:t>sra</a:t>
            </a:r>
            <a:r>
              <a:rPr lang="en-US" dirty="0"/>
              <a:t> para </a:t>
            </a:r>
            <a:r>
              <a:rPr lang="en-US" dirty="0" err="1"/>
              <a:t>baixar</a:t>
            </a:r>
            <a:r>
              <a:rPr lang="en-US" dirty="0"/>
              <a:t> </a:t>
            </a:r>
            <a:r>
              <a:rPr lang="en-US" dirty="0" err="1"/>
              <a:t>arquivos</a:t>
            </a:r>
            <a:r>
              <a:rPr lang="en-US" dirty="0"/>
              <a:t> </a:t>
            </a:r>
            <a:r>
              <a:rPr lang="en-US" dirty="0" err="1"/>
              <a:t>fastq</a:t>
            </a:r>
            <a:r>
              <a:rPr lang="en-US" dirty="0"/>
              <a:t> com </a:t>
            </a:r>
            <a:r>
              <a:rPr lang="en-US" dirty="0" err="1"/>
              <a:t>uma</a:t>
            </a:r>
            <a:r>
              <a:rPr lang="en-US" dirty="0"/>
              <a:t> das duas </a:t>
            </a:r>
            <a:r>
              <a:rPr lang="en-US" dirty="0" err="1"/>
              <a:t>opções</a:t>
            </a:r>
            <a:endParaRPr lang="en-US" dirty="0"/>
          </a:p>
          <a:p>
            <a:pPr lvl="1"/>
            <a:r>
              <a:rPr lang="en-US" dirty="0"/>
              <a:t>curl -L -o </a:t>
            </a:r>
            <a:r>
              <a:rPr lang="en-US" dirty="0" err="1"/>
              <a:t>sratoolkit.tar.gz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https://ftp-trace.ncbi.nlm.nih.gov/sra/sdk/current/sratoolkit.current-mac-arm64.tar.gz</a:t>
            </a:r>
            <a:endParaRPr lang="en-US" dirty="0"/>
          </a:p>
          <a:p>
            <a:pPr lvl="1"/>
            <a:r>
              <a:rPr lang="en-US" dirty="0"/>
              <a:t>curl -L -o </a:t>
            </a:r>
            <a:r>
              <a:rPr lang="en-US" dirty="0" err="1"/>
              <a:t>sratoolkit.tar.gz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https://ftp-trace.ncbi.nlm.nih.gov/sra/sdk/current/sratoolkit.current-alma_linux64.tar.gz</a:t>
            </a:r>
            <a:r>
              <a:rPr lang="en-US" dirty="0"/>
              <a:t>tar -</a:t>
            </a:r>
            <a:r>
              <a:rPr lang="en-US" dirty="0" err="1"/>
              <a:t>xvzf</a:t>
            </a:r>
            <a:r>
              <a:rPr lang="en-US" dirty="0"/>
              <a:t> </a:t>
            </a:r>
            <a:r>
              <a:rPr lang="en-US" dirty="0" err="1"/>
              <a:t>sratoolkit.tar.gz</a:t>
            </a:r>
            <a:endParaRPr lang="en-US" dirty="0"/>
          </a:p>
          <a:p>
            <a:r>
              <a:rPr lang="en-US" dirty="0"/>
              <a:t>tar -</a:t>
            </a:r>
            <a:r>
              <a:rPr lang="en-US" dirty="0" err="1"/>
              <a:t>xvzf</a:t>
            </a:r>
            <a:r>
              <a:rPr lang="en-US" dirty="0"/>
              <a:t> </a:t>
            </a:r>
            <a:r>
              <a:rPr lang="en-US" dirty="0" err="1"/>
              <a:t>sratoolkit.tar.gz</a:t>
            </a:r>
            <a:endParaRPr lang="en-US" dirty="0"/>
          </a:p>
          <a:p>
            <a:pPr lvl="1"/>
            <a:r>
              <a:rPr lang="en-US" b="1" dirty="0"/>
              <a:t>export</a:t>
            </a:r>
            <a:r>
              <a:rPr lang="en-US" dirty="0"/>
              <a:t> PATH="$PWD/sratoolkit.3.4.1-alma_linux64/bin:$PATH”</a:t>
            </a:r>
          </a:p>
          <a:p>
            <a:pPr lvl="1"/>
            <a:r>
              <a:rPr lang="en-US" b="1" dirty="0"/>
              <a:t>export</a:t>
            </a:r>
            <a:r>
              <a:rPr lang="en-US" dirty="0"/>
              <a:t> PATH="$PWD/sratoolkit.3.4.1-mac-arm64/bin:$PATH”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Na </a:t>
            </a:r>
            <a:r>
              <a:rPr lang="en-US" dirty="0" err="1"/>
              <a:t>sua</a:t>
            </a:r>
            <a:r>
              <a:rPr lang="en-US" dirty="0"/>
              <a:t> pasta do </a:t>
            </a:r>
            <a:r>
              <a:rPr lang="en-US" dirty="0" err="1"/>
              <a:t>curso</a:t>
            </a:r>
            <a:endParaRPr lang="en-US" dirty="0"/>
          </a:p>
          <a:p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yang_arabidopsis_example</a:t>
            </a:r>
            <a:endParaRPr lang="en-US" dirty="0"/>
          </a:p>
          <a:p>
            <a:r>
              <a:rPr lang="en-US" dirty="0"/>
              <a:t>cd </a:t>
            </a:r>
            <a:r>
              <a:rPr lang="en-US" dirty="0" err="1"/>
              <a:t>yang_arabidopsis_example</a:t>
            </a:r>
            <a:endParaRPr lang="en-US" dirty="0"/>
          </a:p>
          <a:p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fastq</a:t>
            </a:r>
            <a:endParaRPr lang="en-US" dirty="0"/>
          </a:p>
          <a:p>
            <a:r>
              <a:rPr lang="en-US" dirty="0"/>
              <a:t>cd </a:t>
            </a:r>
            <a:r>
              <a:rPr lang="en-US" dirty="0" err="1"/>
              <a:t>fastq</a:t>
            </a:r>
            <a:endParaRPr lang="en-US" dirty="0"/>
          </a:p>
          <a:p>
            <a:r>
              <a:rPr lang="en-US" dirty="0"/>
              <a:t>prefetch PRJNA780072</a:t>
            </a:r>
          </a:p>
          <a:p>
            <a:r>
              <a:rPr lang="en-US" dirty="0" err="1"/>
              <a:t>fasterq</a:t>
            </a:r>
            <a:r>
              <a:rPr lang="en-US" dirty="0"/>
              <a:t>-dump --split-files PRJNA780072</a:t>
            </a:r>
          </a:p>
          <a:p>
            <a:r>
              <a:rPr lang="en-US" dirty="0"/>
              <a:t># mudar </a:t>
            </a:r>
            <a:r>
              <a:rPr lang="en-US" dirty="0" err="1"/>
              <a:t>nome</a:t>
            </a:r>
            <a:r>
              <a:rPr lang="en-US" dirty="0"/>
              <a:t> dos </a:t>
            </a:r>
            <a:r>
              <a:rPr lang="en-US" dirty="0" err="1"/>
              <a:t>arquivos</a:t>
            </a:r>
            <a:r>
              <a:rPr lang="en-US" dirty="0"/>
              <a:t> para </a:t>
            </a:r>
            <a:r>
              <a:rPr lang="en-US" dirty="0" err="1"/>
              <a:t>terminar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_R1.fastq e _R2.fastq</a:t>
            </a:r>
          </a:p>
        </p:txBody>
      </p:sp>
    </p:spTree>
    <p:extLst>
      <p:ext uri="{BB962C8B-B14F-4D97-AF65-F5344CB8AC3E}">
        <p14:creationId xmlns:p14="http://schemas.microsoft.com/office/powerpoint/2010/main" val="446394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B7A55-53A6-9840-D4E1-236586808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EAFFD-D076-F55A-9DF2-B57604F35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Preparando</a:t>
            </a:r>
            <a:r>
              <a:rPr lang="en-US" dirty="0"/>
              <a:t> o </a:t>
            </a:r>
            <a:r>
              <a:rPr lang="en-US" dirty="0" err="1"/>
              <a:t>genoma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A51EF-6A6F-BC59-508B-9708454DB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Na pasta </a:t>
            </a:r>
            <a:r>
              <a:rPr lang="en-US" dirty="0" err="1"/>
              <a:t>myjuicer</a:t>
            </a:r>
            <a:endParaRPr lang="en-US" dirty="0"/>
          </a:p>
          <a:p>
            <a:r>
              <a:rPr lang="en-US" dirty="0"/>
              <a:t>cd references</a:t>
            </a:r>
          </a:p>
          <a:p>
            <a:r>
              <a:rPr lang="en-US" dirty="0" err="1"/>
              <a:t>wget</a:t>
            </a:r>
            <a:r>
              <a:rPr lang="en-US" dirty="0"/>
              <a:t> https://</a:t>
            </a:r>
            <a:r>
              <a:rPr lang="en-US" dirty="0" err="1"/>
              <a:t>ftp.ensemblgenomes.ebi.ac.uk</a:t>
            </a:r>
            <a:r>
              <a:rPr lang="en-US" dirty="0"/>
              <a:t>/pub/plants/release-63/</a:t>
            </a:r>
            <a:r>
              <a:rPr lang="en-US" dirty="0" err="1"/>
              <a:t>fasta</a:t>
            </a:r>
            <a:r>
              <a:rPr lang="en-US" dirty="0"/>
              <a:t>/</a:t>
            </a:r>
            <a:r>
              <a:rPr lang="en-US" dirty="0" err="1"/>
              <a:t>arabidopsis_thaliana</a:t>
            </a:r>
            <a:r>
              <a:rPr lang="en-US" dirty="0"/>
              <a:t>/</a:t>
            </a:r>
            <a:r>
              <a:rPr lang="en-US" dirty="0" err="1"/>
              <a:t>dna</a:t>
            </a:r>
            <a:r>
              <a:rPr lang="en-US" dirty="0"/>
              <a:t>/Arabidopsis_thaliana.TAIR10.dna.toplevel.fa.gz</a:t>
            </a:r>
          </a:p>
          <a:p>
            <a:r>
              <a:rPr lang="en-US" dirty="0" err="1"/>
              <a:t>gunzip</a:t>
            </a:r>
            <a:r>
              <a:rPr lang="en-US" dirty="0"/>
              <a:t> Arabidopsis_thaliana.TAIR10.dna.toplevel.fa.gz</a:t>
            </a:r>
          </a:p>
          <a:p>
            <a:r>
              <a:rPr lang="en-US" dirty="0" err="1"/>
              <a:t>samtools</a:t>
            </a:r>
            <a:r>
              <a:rPr lang="en-US" dirty="0"/>
              <a:t> </a:t>
            </a:r>
            <a:r>
              <a:rPr lang="en-US" dirty="0" err="1"/>
              <a:t>faidx</a:t>
            </a:r>
            <a:r>
              <a:rPr lang="en-US" dirty="0"/>
              <a:t> Arabidopsis_thaliana.TAIR10.dna.toplevel.fa #para </a:t>
            </a:r>
            <a:r>
              <a:rPr lang="en-US" dirty="0" err="1"/>
              <a:t>recuperar</a:t>
            </a:r>
            <a:r>
              <a:rPr lang="en-US" dirty="0"/>
              <a:t> o </a:t>
            </a:r>
            <a:r>
              <a:rPr lang="en-US" dirty="0" err="1"/>
              <a:t>tamanho</a:t>
            </a:r>
            <a:r>
              <a:rPr lang="en-US" dirty="0"/>
              <a:t> dos </a:t>
            </a:r>
            <a:r>
              <a:rPr lang="en-US" dirty="0" err="1"/>
              <a:t>cromossomos</a:t>
            </a:r>
            <a:endParaRPr lang="en-US" dirty="0"/>
          </a:p>
          <a:p>
            <a:r>
              <a:rPr lang="en-US" dirty="0"/>
              <a:t>cut -f1,2 Arabidopsis_thaliana.TAIR10.dna.toplevel.fa.fai &gt; Arabidopsis_thaliana.TAIR10.dna.toplevel.chrom.sizes</a:t>
            </a:r>
          </a:p>
          <a:p>
            <a:r>
              <a:rPr lang="en-US" dirty="0"/>
              <a:t>bwa index Arabidopsis_thaliana.TAIR10.dna.toplevel.fa</a:t>
            </a:r>
          </a:p>
          <a:p>
            <a:r>
              <a:rPr lang="en-US" dirty="0"/>
              <a:t>cd ../</a:t>
            </a:r>
            <a:r>
              <a:rPr lang="en-US" dirty="0" err="1"/>
              <a:t>restrictions_sites</a:t>
            </a:r>
            <a:endParaRPr lang="en-US" dirty="0"/>
          </a:p>
          <a:p>
            <a:r>
              <a:rPr lang="en-US" dirty="0" err="1"/>
              <a:t>chmod</a:t>
            </a:r>
            <a:r>
              <a:rPr lang="en-US" dirty="0"/>
              <a:t> +x ../../juicer/</a:t>
            </a:r>
            <a:r>
              <a:rPr lang="en-US" dirty="0" err="1"/>
              <a:t>misc</a:t>
            </a:r>
            <a:r>
              <a:rPr lang="en-US" dirty="0"/>
              <a:t>/</a:t>
            </a:r>
            <a:r>
              <a:rPr lang="en-US" dirty="0" err="1"/>
              <a:t>generate_site_positions.py</a:t>
            </a:r>
            <a:endParaRPr lang="en-US" dirty="0"/>
          </a:p>
          <a:p>
            <a:r>
              <a:rPr lang="en-US" dirty="0"/>
              <a:t>../../juicer/</a:t>
            </a:r>
            <a:r>
              <a:rPr lang="en-US" dirty="0" err="1"/>
              <a:t>misc</a:t>
            </a:r>
            <a:r>
              <a:rPr lang="en-US" dirty="0"/>
              <a:t>/</a:t>
            </a:r>
            <a:r>
              <a:rPr lang="en-US" dirty="0" err="1"/>
              <a:t>generate_site_positions.py</a:t>
            </a:r>
            <a:r>
              <a:rPr lang="en-US" dirty="0"/>
              <a:t> Arabidopsis_thaliana.TAIR10.dna.toplevel Arabidopsis_thaliana.TAIR10.dna.toplevel.fa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8190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C3B8-36BC-4690-4BC0-1550D95B8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Esquema</a:t>
            </a:r>
            <a:r>
              <a:rPr lang="en-US" dirty="0"/>
              <a:t> de pastas e </a:t>
            </a:r>
            <a:r>
              <a:rPr lang="en-US" dirty="0" err="1"/>
              <a:t>arquivos</a:t>
            </a:r>
            <a:r>
              <a:rPr lang="en-US" dirty="0"/>
              <a:t> para </a:t>
            </a:r>
            <a:r>
              <a:rPr lang="en-US" dirty="0" err="1"/>
              <a:t>rodar</a:t>
            </a:r>
            <a:r>
              <a:rPr lang="en-US" dirty="0"/>
              <a:t> o </a:t>
            </a:r>
            <a:r>
              <a:rPr lang="en-US" dirty="0" err="1"/>
              <a:t>juicer.sh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B3DACA-9240-CA48-584C-94380AAC4BCF}"/>
              </a:ext>
            </a:extLst>
          </p:cNvPr>
          <p:cNvSpPr txBox="1"/>
          <p:nvPr/>
        </p:nvSpPr>
        <p:spPr>
          <a:xfrm>
            <a:off x="3804436" y="1676502"/>
            <a:ext cx="208775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Sua pasta do </a:t>
            </a:r>
            <a:r>
              <a:rPr lang="en-US" dirty="0" err="1"/>
              <a:t>curso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51792-20B7-AA5D-DD7F-9F6DB0C3C2E1}"/>
              </a:ext>
            </a:extLst>
          </p:cNvPr>
          <p:cNvSpPr txBox="1"/>
          <p:nvPr/>
        </p:nvSpPr>
        <p:spPr>
          <a:xfrm>
            <a:off x="4168877" y="2443698"/>
            <a:ext cx="10427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myjuicer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C1D8C6-E9A7-A26F-1294-A66538119D14}"/>
              </a:ext>
            </a:extLst>
          </p:cNvPr>
          <p:cNvSpPr txBox="1"/>
          <p:nvPr/>
        </p:nvSpPr>
        <p:spPr>
          <a:xfrm>
            <a:off x="421713" y="2443698"/>
            <a:ext cx="74251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juicer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03E3CB-A4AA-84AC-5661-5159B6F62246}"/>
              </a:ext>
            </a:extLst>
          </p:cNvPr>
          <p:cNvSpPr txBox="1"/>
          <p:nvPr/>
        </p:nvSpPr>
        <p:spPr>
          <a:xfrm>
            <a:off x="8240044" y="2443698"/>
            <a:ext cx="27622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cohesin_dosage_example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F64326-5158-6EBE-5163-DCDDEDDA72C2}"/>
              </a:ext>
            </a:extLst>
          </p:cNvPr>
          <p:cNvSpPr txBox="1"/>
          <p:nvPr/>
        </p:nvSpPr>
        <p:spPr>
          <a:xfrm>
            <a:off x="3253642" y="3072025"/>
            <a:ext cx="12462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0CDD8-9B71-78A4-C035-0757070EFBA4}"/>
              </a:ext>
            </a:extLst>
          </p:cNvPr>
          <p:cNvSpPr txBox="1"/>
          <p:nvPr/>
        </p:nvSpPr>
        <p:spPr>
          <a:xfrm>
            <a:off x="5416817" y="3059668"/>
            <a:ext cx="17836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restriction_sites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732AD-EE01-D50A-60C5-2775C5EDD1CA}"/>
              </a:ext>
            </a:extLst>
          </p:cNvPr>
          <p:cNvSpPr txBox="1"/>
          <p:nvPr/>
        </p:nvSpPr>
        <p:spPr>
          <a:xfrm>
            <a:off x="1840760" y="3082398"/>
            <a:ext cx="8666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scripts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0E2FEA-E34E-0B96-7493-24E73D0EDA7C}"/>
              </a:ext>
            </a:extLst>
          </p:cNvPr>
          <p:cNvSpPr txBox="1"/>
          <p:nvPr/>
        </p:nvSpPr>
        <p:spPr>
          <a:xfrm>
            <a:off x="10314779" y="3037482"/>
            <a:ext cx="6874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fastq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5E9041-8EC7-A9B2-D251-7CF169DBFB37}"/>
              </a:ext>
            </a:extLst>
          </p:cNvPr>
          <p:cNvSpPr txBox="1"/>
          <p:nvPr/>
        </p:nvSpPr>
        <p:spPr>
          <a:xfrm>
            <a:off x="1761347" y="3753844"/>
            <a:ext cx="1159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common/</a:t>
            </a:r>
          </a:p>
          <a:p>
            <a:r>
              <a:rPr lang="en-US" dirty="0" err="1"/>
              <a:t>juicer.sh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A3756B-ED8B-8EEB-D14B-0375BCD15074}"/>
              </a:ext>
            </a:extLst>
          </p:cNvPr>
          <p:cNvSpPr txBox="1"/>
          <p:nvPr/>
        </p:nvSpPr>
        <p:spPr>
          <a:xfrm>
            <a:off x="3253642" y="4520981"/>
            <a:ext cx="5566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Arabidopsis_thaliana.TAIR10.dna.toplevel.fa </a:t>
            </a:r>
          </a:p>
          <a:p>
            <a:r>
              <a:rPr lang="en-US" dirty="0"/>
              <a:t>Arabidopsis_thaliana.TAIR10.dna.toplevel.chrom.sizes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D3E128-F25A-1773-A00F-4A8BCE8A44D7}"/>
              </a:ext>
            </a:extLst>
          </p:cNvPr>
          <p:cNvSpPr txBox="1"/>
          <p:nvPr/>
        </p:nvSpPr>
        <p:spPr>
          <a:xfrm>
            <a:off x="5481074" y="3707677"/>
            <a:ext cx="5409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Arabidopsis_thaliana.TAIR10.dna.toplevel_Arima.txt</a:t>
            </a:r>
          </a:p>
        </p:txBody>
      </p:sp>
      <p:sp>
        <p:nvSpPr>
          <p:cNvPr id="3" name="Left Bracket 2">
            <a:extLst>
              <a:ext uri="{FF2B5EF4-FFF2-40B4-BE49-F238E27FC236}">
                <a16:creationId xmlns:a16="http://schemas.microsoft.com/office/drawing/2014/main" id="{0121E1B9-434F-5910-746A-C0DFD0017388}"/>
              </a:ext>
            </a:extLst>
          </p:cNvPr>
          <p:cNvSpPr/>
          <p:nvPr/>
        </p:nvSpPr>
        <p:spPr>
          <a:xfrm rot="5400000">
            <a:off x="5246117" y="-2202115"/>
            <a:ext cx="140894" cy="8956729"/>
          </a:xfrm>
          <a:prstGeom prst="leftBracke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A596059-079B-5535-9362-C57C3088FD66}"/>
              </a:ext>
            </a:extLst>
          </p:cNvPr>
          <p:cNvCxnSpPr>
            <a:cxnSpLocks/>
          </p:cNvCxnSpPr>
          <p:nvPr/>
        </p:nvCxnSpPr>
        <p:spPr>
          <a:xfrm>
            <a:off x="4821824" y="2061271"/>
            <a:ext cx="0" cy="1408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E97DBF3-E0FD-F846-B123-2D676F6D3AC6}"/>
              </a:ext>
            </a:extLst>
          </p:cNvPr>
          <p:cNvCxnSpPr>
            <a:cxnSpLocks/>
          </p:cNvCxnSpPr>
          <p:nvPr/>
        </p:nvCxnSpPr>
        <p:spPr>
          <a:xfrm>
            <a:off x="4664259" y="2198173"/>
            <a:ext cx="0" cy="1408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eft Bracket 18">
            <a:extLst>
              <a:ext uri="{FF2B5EF4-FFF2-40B4-BE49-F238E27FC236}">
                <a16:creationId xmlns:a16="http://schemas.microsoft.com/office/drawing/2014/main" id="{BE653008-7C03-26F6-1BCD-1E753376B4C6}"/>
              </a:ext>
            </a:extLst>
          </p:cNvPr>
          <p:cNvSpPr/>
          <p:nvPr/>
        </p:nvSpPr>
        <p:spPr>
          <a:xfrm rot="5400000">
            <a:off x="4271898" y="919160"/>
            <a:ext cx="131100" cy="4126704"/>
          </a:xfrm>
          <a:prstGeom prst="leftBracke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89A032-00A7-5377-314B-4BC8312A9B1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690238" y="2813030"/>
            <a:ext cx="0" cy="1157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DA647EF-7823-79BC-6BB0-4CF966C57270}"/>
              </a:ext>
            </a:extLst>
          </p:cNvPr>
          <p:cNvCxnSpPr>
            <a:cxnSpLocks/>
          </p:cNvCxnSpPr>
          <p:nvPr/>
        </p:nvCxnSpPr>
        <p:spPr>
          <a:xfrm>
            <a:off x="3875760" y="2907164"/>
            <a:ext cx="0" cy="1408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4A87CF4-0AB5-B3A3-8AFC-58616EB13F7D}"/>
              </a:ext>
            </a:extLst>
          </p:cNvPr>
          <p:cNvCxnSpPr>
            <a:cxnSpLocks/>
          </p:cNvCxnSpPr>
          <p:nvPr/>
        </p:nvCxnSpPr>
        <p:spPr>
          <a:xfrm>
            <a:off x="10648951" y="2860695"/>
            <a:ext cx="0" cy="1157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7910CEA-5B32-EFB0-582A-536365C9AA2A}"/>
              </a:ext>
            </a:extLst>
          </p:cNvPr>
          <p:cNvCxnSpPr>
            <a:cxnSpLocks/>
          </p:cNvCxnSpPr>
          <p:nvPr/>
        </p:nvCxnSpPr>
        <p:spPr>
          <a:xfrm>
            <a:off x="2266272" y="3451730"/>
            <a:ext cx="0" cy="4406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6106E65-CDEA-4A49-25B6-F575692BD0B5}"/>
              </a:ext>
            </a:extLst>
          </p:cNvPr>
          <p:cNvCxnSpPr>
            <a:cxnSpLocks/>
          </p:cNvCxnSpPr>
          <p:nvPr/>
        </p:nvCxnSpPr>
        <p:spPr>
          <a:xfrm flipH="1">
            <a:off x="3875760" y="3492442"/>
            <a:ext cx="1293" cy="10285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0458351-5B1E-CA14-C8CA-F848AF26B961}"/>
              </a:ext>
            </a:extLst>
          </p:cNvPr>
          <p:cNvCxnSpPr>
            <a:cxnSpLocks/>
          </p:cNvCxnSpPr>
          <p:nvPr/>
        </p:nvCxnSpPr>
        <p:spPr>
          <a:xfrm>
            <a:off x="6395474" y="3492442"/>
            <a:ext cx="5326" cy="2685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E64BBE0-0D22-966A-D1B7-1887752E4C32}"/>
              </a:ext>
            </a:extLst>
          </p:cNvPr>
          <p:cNvSpPr txBox="1"/>
          <p:nvPr/>
        </p:nvSpPr>
        <p:spPr>
          <a:xfrm>
            <a:off x="8240044" y="5654566"/>
            <a:ext cx="2512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SRR16937571_R1.fastq</a:t>
            </a:r>
          </a:p>
          <a:p>
            <a:r>
              <a:rPr lang="en-US" dirty="0"/>
              <a:t>SRR16937571_R2.fastq</a:t>
            </a:r>
          </a:p>
        </p:txBody>
      </p:sp>
    </p:spTree>
    <p:extLst>
      <p:ext uri="{BB962C8B-B14F-4D97-AF65-F5344CB8AC3E}">
        <p14:creationId xmlns:p14="http://schemas.microsoft.com/office/powerpoint/2010/main" val="1927973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11114</TotalTime>
  <Words>2441</Words>
  <Application>Microsoft Macintosh PowerPoint</Application>
  <PresentationFormat>Widescreen</PresentationFormat>
  <Paragraphs>330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Construção de mapas de Hi-C</vt:lpstr>
      <vt:lpstr>Como construir o mapa de contatos</vt:lpstr>
      <vt:lpstr>Como construir o mapa de contatos</vt:lpstr>
      <vt:lpstr>Muitos pipelines diferentes</vt:lpstr>
      <vt:lpstr>Juicer</vt:lpstr>
      <vt:lpstr>Juicer</vt:lpstr>
      <vt:lpstr>Tudo com juicer</vt:lpstr>
      <vt:lpstr>Instalando dependências</vt:lpstr>
      <vt:lpstr>Organizar pastas (diretórios) e arquivos</vt:lpstr>
      <vt:lpstr>Preparando o juicer</vt:lpstr>
      <vt:lpstr>Input</vt:lpstr>
      <vt:lpstr>Nosso exemplo </vt:lpstr>
      <vt:lpstr>Encontrar informações de entrada</vt:lpstr>
      <vt:lpstr>Organizando dados de entrada</vt:lpstr>
      <vt:lpstr>Preparando o genoma</vt:lpstr>
      <vt:lpstr>Esquema de pastas e arquivos para rodar o juicer.sh</vt:lpstr>
      <vt:lpstr>Rodar o juicer</vt:lpstr>
      <vt:lpstr>Estatísticas dos reads</vt:lpstr>
      <vt:lpstr>PowerPoint Presentation</vt:lpstr>
      <vt:lpstr>Para visualizar</vt:lpstr>
      <vt:lpstr>./juicer.sh -h</vt:lpstr>
      <vt:lpstr>./juicer.sh -h</vt:lpstr>
      <vt:lpstr>./juicer.sh -h</vt:lpstr>
      <vt:lpstr>./juicer.sh -h</vt:lpstr>
      <vt:lpstr>./juicer.sh -h</vt:lpstr>
      <vt:lpstr>Nosso exemplo </vt:lpstr>
      <vt:lpstr>Organizando dados de entrada</vt:lpstr>
      <vt:lpstr>Preparando o genoma</vt:lpstr>
      <vt:lpstr>Esquema de pastas e arquivos para rodar o juicer.sh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Souza Camara</dc:creator>
  <cp:lastModifiedBy>Amanda Souza Camara</cp:lastModifiedBy>
  <cp:revision>9</cp:revision>
  <dcterms:created xsi:type="dcterms:W3CDTF">2026-10-13T06:19:17Z</dcterms:created>
  <dcterms:modified xsi:type="dcterms:W3CDTF">2026-10-26T10:15:18Z</dcterms:modified>
</cp:coreProperties>
</file>